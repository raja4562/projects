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3"/>
  </p:notesMasterIdLst>
  <p:sldIdLst>
    <p:sldId id="256" r:id="rId2"/>
    <p:sldId id="257" r:id="rId3"/>
    <p:sldId id="260" r:id="rId4"/>
    <p:sldId id="259" r:id="rId5"/>
    <p:sldId id="258" r:id="rId6"/>
    <p:sldId id="276" r:id="rId7"/>
    <p:sldId id="277" r:id="rId8"/>
    <p:sldId id="261" r:id="rId9"/>
    <p:sldId id="262" r:id="rId10"/>
    <p:sldId id="263" r:id="rId11"/>
    <p:sldId id="266" r:id="rId12"/>
    <p:sldId id="264" r:id="rId13"/>
    <p:sldId id="265" r:id="rId14"/>
    <p:sldId id="267" r:id="rId15"/>
    <p:sldId id="268" r:id="rId16"/>
    <p:sldId id="272" r:id="rId17"/>
    <p:sldId id="271" r:id="rId18"/>
    <p:sldId id="270"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7" d="100"/>
          <a:sy n="57" d="100"/>
        </p:scale>
        <p:origin x="9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1C3404-DB89-46AE-ABB8-8CC4184F611D}" type="doc">
      <dgm:prSet loTypeId="urn:microsoft.com/office/officeart/2008/layout/LinedList" loCatId="list" qsTypeId="urn:microsoft.com/office/officeart/2005/8/quickstyle/simple4" qsCatId="simple" csTypeId="urn:microsoft.com/office/officeart/2005/8/colors/colorful5" csCatId="colorful"/>
      <dgm:spPr/>
      <dgm:t>
        <a:bodyPr/>
        <a:lstStyle/>
        <a:p>
          <a:endParaRPr lang="en-US"/>
        </a:p>
      </dgm:t>
    </dgm:pt>
    <dgm:pt modelId="{64C76D7B-5B6C-43E0-9EE7-EC5930308C12}">
      <dgm:prSet/>
      <dgm:spPr/>
      <dgm:t>
        <a:bodyPr/>
        <a:lstStyle/>
        <a:p>
          <a:r>
            <a:rPr lang="en-US" dirty="0"/>
            <a:t>How do key performance metrics (e.g., pace, shooting, passing) influence a player's overall rating in professional sports, and which attributes have the most significant impact?</a:t>
          </a:r>
        </a:p>
      </dgm:t>
    </dgm:pt>
    <dgm:pt modelId="{EA2F3517-4506-4E82-AB9D-57595E1DD7FD}" type="parTrans" cxnId="{ABE01B11-39EE-4D67-B146-FBDFFEB10ACD}">
      <dgm:prSet/>
      <dgm:spPr/>
      <dgm:t>
        <a:bodyPr/>
        <a:lstStyle/>
        <a:p>
          <a:endParaRPr lang="en-US"/>
        </a:p>
      </dgm:t>
    </dgm:pt>
    <dgm:pt modelId="{5B544FBD-3705-4640-A519-F5F9AEEA5AD3}" type="sibTrans" cxnId="{ABE01B11-39EE-4D67-B146-FBDFFEB10ACD}">
      <dgm:prSet/>
      <dgm:spPr/>
      <dgm:t>
        <a:bodyPr/>
        <a:lstStyle/>
        <a:p>
          <a:endParaRPr lang="en-US"/>
        </a:p>
      </dgm:t>
    </dgm:pt>
    <dgm:pt modelId="{0FCBDB67-01EF-4F8F-9CF2-A61C3B506DFE}">
      <dgm:prSet/>
      <dgm:spPr/>
      <dgm:t>
        <a:bodyPr/>
        <a:lstStyle/>
        <a:p>
          <a:r>
            <a:rPr lang="en-US" dirty="0"/>
            <a:t>How does the performance of polynomial regression compare to multiple linear regression in terms of predictive accuracy for player ratings, and does the inclusion of non-linear terms lead to significant improvements?</a:t>
          </a:r>
        </a:p>
      </dgm:t>
    </dgm:pt>
    <dgm:pt modelId="{BFE33208-EF8C-4CE6-98E5-E940D2BA5FCA}" type="parTrans" cxnId="{03218E85-36D4-499D-B1EC-53264667706A}">
      <dgm:prSet/>
      <dgm:spPr/>
      <dgm:t>
        <a:bodyPr/>
        <a:lstStyle/>
        <a:p>
          <a:endParaRPr lang="en-US"/>
        </a:p>
      </dgm:t>
    </dgm:pt>
    <dgm:pt modelId="{B8533C54-F418-47AF-99B0-60C215684AD1}" type="sibTrans" cxnId="{03218E85-36D4-499D-B1EC-53264667706A}">
      <dgm:prSet/>
      <dgm:spPr/>
      <dgm:t>
        <a:bodyPr/>
        <a:lstStyle/>
        <a:p>
          <a:endParaRPr lang="en-US"/>
        </a:p>
      </dgm:t>
    </dgm:pt>
    <dgm:pt modelId="{43746D4A-0E2A-4124-A594-D31DF8222F6F}">
      <dgm:prSet/>
      <dgm:spPr/>
      <dgm:t>
        <a:bodyPr/>
        <a:lstStyle/>
        <a:p>
          <a:r>
            <a:rPr lang="en-US" dirty="0"/>
            <a:t>How effective are cross-validation and external validation methods in evaluating the stability of regression models for predicting player ratings?</a:t>
          </a:r>
        </a:p>
      </dgm:t>
    </dgm:pt>
    <dgm:pt modelId="{77ECDBEB-94AA-42F7-BD3E-D041F3190AE7}" type="parTrans" cxnId="{5088EC53-8949-4AD6-95A5-F05CF7F65BD6}">
      <dgm:prSet/>
      <dgm:spPr/>
      <dgm:t>
        <a:bodyPr/>
        <a:lstStyle/>
        <a:p>
          <a:endParaRPr lang="en-US"/>
        </a:p>
      </dgm:t>
    </dgm:pt>
    <dgm:pt modelId="{5B362F58-0BF4-4333-B168-04274BDEC110}" type="sibTrans" cxnId="{5088EC53-8949-4AD6-95A5-F05CF7F65BD6}">
      <dgm:prSet/>
      <dgm:spPr/>
      <dgm:t>
        <a:bodyPr/>
        <a:lstStyle/>
        <a:p>
          <a:endParaRPr lang="en-US"/>
        </a:p>
      </dgm:t>
    </dgm:pt>
    <dgm:pt modelId="{05674AC6-B98A-4437-A915-51155F41168E}" type="pres">
      <dgm:prSet presAssocID="{291C3404-DB89-46AE-ABB8-8CC4184F611D}" presName="vert0" presStyleCnt="0">
        <dgm:presLayoutVars>
          <dgm:dir/>
          <dgm:animOne val="branch"/>
          <dgm:animLvl val="lvl"/>
        </dgm:presLayoutVars>
      </dgm:prSet>
      <dgm:spPr/>
    </dgm:pt>
    <dgm:pt modelId="{E26D654D-C76F-43FB-8F77-C3BF9162A190}" type="pres">
      <dgm:prSet presAssocID="{64C76D7B-5B6C-43E0-9EE7-EC5930308C12}" presName="thickLine" presStyleLbl="alignNode1" presStyleIdx="0" presStyleCnt="3"/>
      <dgm:spPr/>
    </dgm:pt>
    <dgm:pt modelId="{1FF5239B-8611-4894-845A-685E1F6E3201}" type="pres">
      <dgm:prSet presAssocID="{64C76D7B-5B6C-43E0-9EE7-EC5930308C12}" presName="horz1" presStyleCnt="0"/>
      <dgm:spPr/>
    </dgm:pt>
    <dgm:pt modelId="{CB7239CE-20E5-4DE6-92F9-468EB8820D41}" type="pres">
      <dgm:prSet presAssocID="{64C76D7B-5B6C-43E0-9EE7-EC5930308C12}" presName="tx1" presStyleLbl="revTx" presStyleIdx="0" presStyleCnt="3"/>
      <dgm:spPr/>
    </dgm:pt>
    <dgm:pt modelId="{C1EE98EE-69F2-4500-9D48-FDCB1525302A}" type="pres">
      <dgm:prSet presAssocID="{64C76D7B-5B6C-43E0-9EE7-EC5930308C12}" presName="vert1" presStyleCnt="0"/>
      <dgm:spPr/>
    </dgm:pt>
    <dgm:pt modelId="{1F920873-52D1-454D-837A-CB32200AA860}" type="pres">
      <dgm:prSet presAssocID="{0FCBDB67-01EF-4F8F-9CF2-A61C3B506DFE}" presName="thickLine" presStyleLbl="alignNode1" presStyleIdx="1" presStyleCnt="3"/>
      <dgm:spPr/>
    </dgm:pt>
    <dgm:pt modelId="{FBDEF70F-7714-454C-A5CC-5C8780A557C6}" type="pres">
      <dgm:prSet presAssocID="{0FCBDB67-01EF-4F8F-9CF2-A61C3B506DFE}" presName="horz1" presStyleCnt="0"/>
      <dgm:spPr/>
    </dgm:pt>
    <dgm:pt modelId="{8C281DD1-DE47-4642-9D75-CB3ECADDCCCA}" type="pres">
      <dgm:prSet presAssocID="{0FCBDB67-01EF-4F8F-9CF2-A61C3B506DFE}" presName="tx1" presStyleLbl="revTx" presStyleIdx="1" presStyleCnt="3"/>
      <dgm:spPr/>
    </dgm:pt>
    <dgm:pt modelId="{103079EA-0352-462E-A487-E4D075045A82}" type="pres">
      <dgm:prSet presAssocID="{0FCBDB67-01EF-4F8F-9CF2-A61C3B506DFE}" presName="vert1" presStyleCnt="0"/>
      <dgm:spPr/>
    </dgm:pt>
    <dgm:pt modelId="{46BD89AE-5719-4662-B812-91D128092DFD}" type="pres">
      <dgm:prSet presAssocID="{43746D4A-0E2A-4124-A594-D31DF8222F6F}" presName="thickLine" presStyleLbl="alignNode1" presStyleIdx="2" presStyleCnt="3"/>
      <dgm:spPr/>
    </dgm:pt>
    <dgm:pt modelId="{FED14196-006A-40C3-95E7-29A62F9E380B}" type="pres">
      <dgm:prSet presAssocID="{43746D4A-0E2A-4124-A594-D31DF8222F6F}" presName="horz1" presStyleCnt="0"/>
      <dgm:spPr/>
    </dgm:pt>
    <dgm:pt modelId="{443306B6-9A0C-4153-B9A7-60FE89047FC2}" type="pres">
      <dgm:prSet presAssocID="{43746D4A-0E2A-4124-A594-D31DF8222F6F}" presName="tx1" presStyleLbl="revTx" presStyleIdx="2" presStyleCnt="3"/>
      <dgm:spPr/>
    </dgm:pt>
    <dgm:pt modelId="{AE45C53F-2058-4F73-9A7A-28E857BAC76D}" type="pres">
      <dgm:prSet presAssocID="{43746D4A-0E2A-4124-A594-D31DF8222F6F}" presName="vert1" presStyleCnt="0"/>
      <dgm:spPr/>
    </dgm:pt>
  </dgm:ptLst>
  <dgm:cxnLst>
    <dgm:cxn modelId="{ABE01B11-39EE-4D67-B146-FBDFFEB10ACD}" srcId="{291C3404-DB89-46AE-ABB8-8CC4184F611D}" destId="{64C76D7B-5B6C-43E0-9EE7-EC5930308C12}" srcOrd="0" destOrd="0" parTransId="{EA2F3517-4506-4E82-AB9D-57595E1DD7FD}" sibTransId="{5B544FBD-3705-4640-A519-F5F9AEEA5AD3}"/>
    <dgm:cxn modelId="{0C02191E-AB9D-4A12-831C-60BB6A73CD62}" type="presOf" srcId="{291C3404-DB89-46AE-ABB8-8CC4184F611D}" destId="{05674AC6-B98A-4437-A915-51155F41168E}" srcOrd="0" destOrd="0" presId="urn:microsoft.com/office/officeart/2008/layout/LinedList"/>
    <dgm:cxn modelId="{52BE6E38-3A24-4867-BA51-A75AF8A4A815}" type="presOf" srcId="{64C76D7B-5B6C-43E0-9EE7-EC5930308C12}" destId="{CB7239CE-20E5-4DE6-92F9-468EB8820D41}" srcOrd="0" destOrd="0" presId="urn:microsoft.com/office/officeart/2008/layout/LinedList"/>
    <dgm:cxn modelId="{E9AA6C46-8F10-4807-804A-3A821D370A0B}" type="presOf" srcId="{43746D4A-0E2A-4124-A594-D31DF8222F6F}" destId="{443306B6-9A0C-4153-B9A7-60FE89047FC2}" srcOrd="0" destOrd="0" presId="urn:microsoft.com/office/officeart/2008/layout/LinedList"/>
    <dgm:cxn modelId="{5088EC53-8949-4AD6-95A5-F05CF7F65BD6}" srcId="{291C3404-DB89-46AE-ABB8-8CC4184F611D}" destId="{43746D4A-0E2A-4124-A594-D31DF8222F6F}" srcOrd="2" destOrd="0" parTransId="{77ECDBEB-94AA-42F7-BD3E-D041F3190AE7}" sibTransId="{5B362F58-0BF4-4333-B168-04274BDEC110}"/>
    <dgm:cxn modelId="{03218E85-36D4-499D-B1EC-53264667706A}" srcId="{291C3404-DB89-46AE-ABB8-8CC4184F611D}" destId="{0FCBDB67-01EF-4F8F-9CF2-A61C3B506DFE}" srcOrd="1" destOrd="0" parTransId="{BFE33208-EF8C-4CE6-98E5-E940D2BA5FCA}" sibTransId="{B8533C54-F418-47AF-99B0-60C215684AD1}"/>
    <dgm:cxn modelId="{9ECC78CA-96A6-4309-9A22-30C68F17BBEA}" type="presOf" srcId="{0FCBDB67-01EF-4F8F-9CF2-A61C3B506DFE}" destId="{8C281DD1-DE47-4642-9D75-CB3ECADDCCCA}" srcOrd="0" destOrd="0" presId="urn:microsoft.com/office/officeart/2008/layout/LinedList"/>
    <dgm:cxn modelId="{7F999E0C-8DA2-4A68-8DCD-278A1E10EB1C}" type="presParOf" srcId="{05674AC6-B98A-4437-A915-51155F41168E}" destId="{E26D654D-C76F-43FB-8F77-C3BF9162A190}" srcOrd="0" destOrd="0" presId="urn:microsoft.com/office/officeart/2008/layout/LinedList"/>
    <dgm:cxn modelId="{BFF63611-E94C-42E3-BDDC-A3D126B4238F}" type="presParOf" srcId="{05674AC6-B98A-4437-A915-51155F41168E}" destId="{1FF5239B-8611-4894-845A-685E1F6E3201}" srcOrd="1" destOrd="0" presId="urn:microsoft.com/office/officeart/2008/layout/LinedList"/>
    <dgm:cxn modelId="{C9B17960-36C3-4FE5-A378-5BC1B67CEF74}" type="presParOf" srcId="{1FF5239B-8611-4894-845A-685E1F6E3201}" destId="{CB7239CE-20E5-4DE6-92F9-468EB8820D41}" srcOrd="0" destOrd="0" presId="urn:microsoft.com/office/officeart/2008/layout/LinedList"/>
    <dgm:cxn modelId="{250F4118-74E9-47DB-863A-2C08562D94F3}" type="presParOf" srcId="{1FF5239B-8611-4894-845A-685E1F6E3201}" destId="{C1EE98EE-69F2-4500-9D48-FDCB1525302A}" srcOrd="1" destOrd="0" presId="urn:microsoft.com/office/officeart/2008/layout/LinedList"/>
    <dgm:cxn modelId="{F187D2CE-B408-463A-81E1-FF6002CAD64C}" type="presParOf" srcId="{05674AC6-B98A-4437-A915-51155F41168E}" destId="{1F920873-52D1-454D-837A-CB32200AA860}" srcOrd="2" destOrd="0" presId="urn:microsoft.com/office/officeart/2008/layout/LinedList"/>
    <dgm:cxn modelId="{8E9FD89A-C296-4375-B3CD-68138BA0BCBD}" type="presParOf" srcId="{05674AC6-B98A-4437-A915-51155F41168E}" destId="{FBDEF70F-7714-454C-A5CC-5C8780A557C6}" srcOrd="3" destOrd="0" presId="urn:microsoft.com/office/officeart/2008/layout/LinedList"/>
    <dgm:cxn modelId="{E35431D6-865C-4C1F-9FC0-70B92502B11D}" type="presParOf" srcId="{FBDEF70F-7714-454C-A5CC-5C8780A557C6}" destId="{8C281DD1-DE47-4642-9D75-CB3ECADDCCCA}" srcOrd="0" destOrd="0" presId="urn:microsoft.com/office/officeart/2008/layout/LinedList"/>
    <dgm:cxn modelId="{55401ED4-68EA-40EF-983B-20A6168A248E}" type="presParOf" srcId="{FBDEF70F-7714-454C-A5CC-5C8780A557C6}" destId="{103079EA-0352-462E-A487-E4D075045A82}" srcOrd="1" destOrd="0" presId="urn:microsoft.com/office/officeart/2008/layout/LinedList"/>
    <dgm:cxn modelId="{CCBE4D96-5543-4D70-AFBB-CA7ECB407435}" type="presParOf" srcId="{05674AC6-B98A-4437-A915-51155F41168E}" destId="{46BD89AE-5719-4662-B812-91D128092DFD}" srcOrd="4" destOrd="0" presId="urn:microsoft.com/office/officeart/2008/layout/LinedList"/>
    <dgm:cxn modelId="{12BA954E-DC72-4E2B-8E57-5A57F7496FAA}" type="presParOf" srcId="{05674AC6-B98A-4437-A915-51155F41168E}" destId="{FED14196-006A-40C3-95E7-29A62F9E380B}" srcOrd="5" destOrd="0" presId="urn:microsoft.com/office/officeart/2008/layout/LinedList"/>
    <dgm:cxn modelId="{D94EACE4-C922-444B-B1AB-F4318BE9C704}" type="presParOf" srcId="{FED14196-006A-40C3-95E7-29A62F9E380B}" destId="{443306B6-9A0C-4153-B9A7-60FE89047FC2}" srcOrd="0" destOrd="0" presId="urn:microsoft.com/office/officeart/2008/layout/LinedList"/>
    <dgm:cxn modelId="{9E0B7168-EAA7-4450-BB48-1E9B84437E45}" type="presParOf" srcId="{FED14196-006A-40C3-95E7-29A62F9E380B}" destId="{AE45C53F-2058-4F73-9A7A-28E857BAC76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1E5A4B-E9CC-4EA2-90D2-7AD8E471DE5A}"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960B9FA-1D10-4880-B5C7-F1F29958EDD2}">
      <dgm:prSet/>
      <dgm:spPr/>
      <dgm:t>
        <a:bodyPr/>
        <a:lstStyle/>
        <a:p>
          <a:r>
            <a:rPr lang="en-US"/>
            <a:t>Multiple Linear Regression</a:t>
          </a:r>
        </a:p>
      </dgm:t>
    </dgm:pt>
    <dgm:pt modelId="{3DCB3ADF-F47D-4EC6-8DBB-251C7304223C}" type="parTrans" cxnId="{B9763BD4-21B9-489A-B717-228A473B2BCB}">
      <dgm:prSet/>
      <dgm:spPr/>
      <dgm:t>
        <a:bodyPr/>
        <a:lstStyle/>
        <a:p>
          <a:endParaRPr lang="en-US"/>
        </a:p>
      </dgm:t>
    </dgm:pt>
    <dgm:pt modelId="{3D6C49C6-7C3C-4878-8FFF-10C4D475B279}" type="sibTrans" cxnId="{B9763BD4-21B9-489A-B717-228A473B2BCB}">
      <dgm:prSet/>
      <dgm:spPr/>
      <dgm:t>
        <a:bodyPr/>
        <a:lstStyle/>
        <a:p>
          <a:endParaRPr lang="en-US"/>
        </a:p>
      </dgm:t>
    </dgm:pt>
    <dgm:pt modelId="{28CF74A9-5F22-44D5-BB3D-E29BF79C09DA}">
      <dgm:prSet/>
      <dgm:spPr/>
      <dgm:t>
        <a:bodyPr/>
        <a:lstStyle/>
        <a:p>
          <a:r>
            <a:rPr lang="en-US"/>
            <a:t>Polynomial Regression</a:t>
          </a:r>
        </a:p>
      </dgm:t>
    </dgm:pt>
    <dgm:pt modelId="{66D184E5-1F78-460F-9A64-2BE2A0160836}" type="parTrans" cxnId="{DEE0C8FF-5829-40A0-BC6D-E227E97BB989}">
      <dgm:prSet/>
      <dgm:spPr/>
      <dgm:t>
        <a:bodyPr/>
        <a:lstStyle/>
        <a:p>
          <a:endParaRPr lang="en-US"/>
        </a:p>
      </dgm:t>
    </dgm:pt>
    <dgm:pt modelId="{57B9CB4B-827F-4FBD-AB57-9BDE356E7A88}" type="sibTrans" cxnId="{DEE0C8FF-5829-40A0-BC6D-E227E97BB989}">
      <dgm:prSet/>
      <dgm:spPr/>
      <dgm:t>
        <a:bodyPr/>
        <a:lstStyle/>
        <a:p>
          <a:endParaRPr lang="en-US"/>
        </a:p>
      </dgm:t>
    </dgm:pt>
    <dgm:pt modelId="{7FFDB82A-ECB4-472D-92A7-21DDA253D791}" type="pres">
      <dgm:prSet presAssocID="{FE1E5A4B-E9CC-4EA2-90D2-7AD8E471DE5A}" presName="vert0" presStyleCnt="0">
        <dgm:presLayoutVars>
          <dgm:dir/>
          <dgm:animOne val="branch"/>
          <dgm:animLvl val="lvl"/>
        </dgm:presLayoutVars>
      </dgm:prSet>
      <dgm:spPr/>
    </dgm:pt>
    <dgm:pt modelId="{4E578D5A-7365-4203-BD8E-F8FBDB28D656}" type="pres">
      <dgm:prSet presAssocID="{A960B9FA-1D10-4880-B5C7-F1F29958EDD2}" presName="thickLine" presStyleLbl="alignNode1" presStyleIdx="0" presStyleCnt="2"/>
      <dgm:spPr/>
    </dgm:pt>
    <dgm:pt modelId="{3B7B16FB-DBF2-4146-BC90-4DCB537FFCF7}" type="pres">
      <dgm:prSet presAssocID="{A960B9FA-1D10-4880-B5C7-F1F29958EDD2}" presName="horz1" presStyleCnt="0"/>
      <dgm:spPr/>
    </dgm:pt>
    <dgm:pt modelId="{842286FF-3C9D-49F4-AAA2-294C7505FF43}" type="pres">
      <dgm:prSet presAssocID="{A960B9FA-1D10-4880-B5C7-F1F29958EDD2}" presName="tx1" presStyleLbl="revTx" presStyleIdx="0" presStyleCnt="2"/>
      <dgm:spPr/>
    </dgm:pt>
    <dgm:pt modelId="{9714D00F-D5C9-4BDE-88AE-5B3ABC22DDBA}" type="pres">
      <dgm:prSet presAssocID="{A960B9FA-1D10-4880-B5C7-F1F29958EDD2}" presName="vert1" presStyleCnt="0"/>
      <dgm:spPr/>
    </dgm:pt>
    <dgm:pt modelId="{2CF0F8A6-611E-42DA-B04E-F4C234927197}" type="pres">
      <dgm:prSet presAssocID="{28CF74A9-5F22-44D5-BB3D-E29BF79C09DA}" presName="thickLine" presStyleLbl="alignNode1" presStyleIdx="1" presStyleCnt="2"/>
      <dgm:spPr/>
    </dgm:pt>
    <dgm:pt modelId="{C01462AC-341A-4C9F-8C16-1D4502D8B248}" type="pres">
      <dgm:prSet presAssocID="{28CF74A9-5F22-44D5-BB3D-E29BF79C09DA}" presName="horz1" presStyleCnt="0"/>
      <dgm:spPr/>
    </dgm:pt>
    <dgm:pt modelId="{7EE0531C-8D60-434E-9A62-D8AC7606C49A}" type="pres">
      <dgm:prSet presAssocID="{28CF74A9-5F22-44D5-BB3D-E29BF79C09DA}" presName="tx1" presStyleLbl="revTx" presStyleIdx="1" presStyleCnt="2"/>
      <dgm:spPr/>
    </dgm:pt>
    <dgm:pt modelId="{F3F8D26C-62FF-4D1E-8A9F-D3101D56DEF0}" type="pres">
      <dgm:prSet presAssocID="{28CF74A9-5F22-44D5-BB3D-E29BF79C09DA}" presName="vert1" presStyleCnt="0"/>
      <dgm:spPr/>
    </dgm:pt>
  </dgm:ptLst>
  <dgm:cxnLst>
    <dgm:cxn modelId="{EC1B910B-C572-41B5-BD3D-11EE96FA5082}" type="presOf" srcId="{FE1E5A4B-E9CC-4EA2-90D2-7AD8E471DE5A}" destId="{7FFDB82A-ECB4-472D-92A7-21DDA253D791}" srcOrd="0" destOrd="0" presId="urn:microsoft.com/office/officeart/2008/layout/LinedList"/>
    <dgm:cxn modelId="{851C2735-1F38-47BC-88BC-57AE50B022E4}" type="presOf" srcId="{28CF74A9-5F22-44D5-BB3D-E29BF79C09DA}" destId="{7EE0531C-8D60-434E-9A62-D8AC7606C49A}" srcOrd="0" destOrd="0" presId="urn:microsoft.com/office/officeart/2008/layout/LinedList"/>
    <dgm:cxn modelId="{24452A77-6E54-45EA-8EF1-7EDD192F5F6E}" type="presOf" srcId="{A960B9FA-1D10-4880-B5C7-F1F29958EDD2}" destId="{842286FF-3C9D-49F4-AAA2-294C7505FF43}" srcOrd="0" destOrd="0" presId="urn:microsoft.com/office/officeart/2008/layout/LinedList"/>
    <dgm:cxn modelId="{B9763BD4-21B9-489A-B717-228A473B2BCB}" srcId="{FE1E5A4B-E9CC-4EA2-90D2-7AD8E471DE5A}" destId="{A960B9FA-1D10-4880-B5C7-F1F29958EDD2}" srcOrd="0" destOrd="0" parTransId="{3DCB3ADF-F47D-4EC6-8DBB-251C7304223C}" sibTransId="{3D6C49C6-7C3C-4878-8FFF-10C4D475B279}"/>
    <dgm:cxn modelId="{DEE0C8FF-5829-40A0-BC6D-E227E97BB989}" srcId="{FE1E5A4B-E9CC-4EA2-90D2-7AD8E471DE5A}" destId="{28CF74A9-5F22-44D5-BB3D-E29BF79C09DA}" srcOrd="1" destOrd="0" parTransId="{66D184E5-1F78-460F-9A64-2BE2A0160836}" sibTransId="{57B9CB4B-827F-4FBD-AB57-9BDE356E7A88}"/>
    <dgm:cxn modelId="{2FA182C4-2DBA-427D-9D58-AFBB503B8E71}" type="presParOf" srcId="{7FFDB82A-ECB4-472D-92A7-21DDA253D791}" destId="{4E578D5A-7365-4203-BD8E-F8FBDB28D656}" srcOrd="0" destOrd="0" presId="urn:microsoft.com/office/officeart/2008/layout/LinedList"/>
    <dgm:cxn modelId="{1F17A47B-2EB1-4069-9BB7-F663B169FBC9}" type="presParOf" srcId="{7FFDB82A-ECB4-472D-92A7-21DDA253D791}" destId="{3B7B16FB-DBF2-4146-BC90-4DCB537FFCF7}" srcOrd="1" destOrd="0" presId="urn:microsoft.com/office/officeart/2008/layout/LinedList"/>
    <dgm:cxn modelId="{E3BBBD4D-FFCA-423B-AC96-E178C7B5FE4B}" type="presParOf" srcId="{3B7B16FB-DBF2-4146-BC90-4DCB537FFCF7}" destId="{842286FF-3C9D-49F4-AAA2-294C7505FF43}" srcOrd="0" destOrd="0" presId="urn:microsoft.com/office/officeart/2008/layout/LinedList"/>
    <dgm:cxn modelId="{2620C614-14F4-4E2C-8F82-A7B18F4EA184}" type="presParOf" srcId="{3B7B16FB-DBF2-4146-BC90-4DCB537FFCF7}" destId="{9714D00F-D5C9-4BDE-88AE-5B3ABC22DDBA}" srcOrd="1" destOrd="0" presId="urn:microsoft.com/office/officeart/2008/layout/LinedList"/>
    <dgm:cxn modelId="{B8895085-DA1D-437C-88E7-D9CAB086614E}" type="presParOf" srcId="{7FFDB82A-ECB4-472D-92A7-21DDA253D791}" destId="{2CF0F8A6-611E-42DA-B04E-F4C234927197}" srcOrd="2" destOrd="0" presId="urn:microsoft.com/office/officeart/2008/layout/LinedList"/>
    <dgm:cxn modelId="{8459A1F9-6462-4E97-B620-C02F25DA2587}" type="presParOf" srcId="{7FFDB82A-ECB4-472D-92A7-21DDA253D791}" destId="{C01462AC-341A-4C9F-8C16-1D4502D8B248}" srcOrd="3" destOrd="0" presId="urn:microsoft.com/office/officeart/2008/layout/LinedList"/>
    <dgm:cxn modelId="{1E994BB6-3537-4A8F-BBF0-8435897894A6}" type="presParOf" srcId="{C01462AC-341A-4C9F-8C16-1D4502D8B248}" destId="{7EE0531C-8D60-434E-9A62-D8AC7606C49A}" srcOrd="0" destOrd="0" presId="urn:microsoft.com/office/officeart/2008/layout/LinedList"/>
    <dgm:cxn modelId="{D6F14E41-9E42-49AC-B536-89D540AE440B}" type="presParOf" srcId="{C01462AC-341A-4C9F-8C16-1D4502D8B248}" destId="{F3F8D26C-62FF-4D1E-8A9F-D3101D56DEF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355A89-9AB7-4C21-B2A1-C94E7C6E8FC7}"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827084C6-87D8-4873-82EC-0FD6917CD3A4}">
      <dgm:prSet/>
      <dgm:spPr/>
      <dgm:t>
        <a:bodyPr/>
        <a:lstStyle/>
        <a:p>
          <a:r>
            <a:rPr lang="en-US"/>
            <a:t>Predicting Player Ratings with Multiple Linear Regression</a:t>
          </a:r>
        </a:p>
      </dgm:t>
    </dgm:pt>
    <dgm:pt modelId="{79E04860-C097-4739-B4A9-86A2FAF44498}" type="parTrans" cxnId="{8D976242-A3A4-478D-8A3E-F22A75EA8AA0}">
      <dgm:prSet/>
      <dgm:spPr/>
      <dgm:t>
        <a:bodyPr/>
        <a:lstStyle/>
        <a:p>
          <a:endParaRPr lang="en-US"/>
        </a:p>
      </dgm:t>
    </dgm:pt>
    <dgm:pt modelId="{7F07E6D1-E130-4C4F-B1A8-ABD7004B2E8A}" type="sibTrans" cxnId="{8D976242-A3A4-478D-8A3E-F22A75EA8AA0}">
      <dgm:prSet/>
      <dgm:spPr/>
      <dgm:t>
        <a:bodyPr/>
        <a:lstStyle/>
        <a:p>
          <a:endParaRPr lang="en-US"/>
        </a:p>
      </dgm:t>
    </dgm:pt>
    <dgm:pt modelId="{F39B15D3-9951-4A28-869C-9E2D9681FA39}">
      <dgm:prSet/>
      <dgm:spPr/>
      <dgm:t>
        <a:bodyPr/>
        <a:lstStyle/>
        <a:p>
          <a:r>
            <a:rPr lang="en-US"/>
            <a:t>Objective: Predict overall player rating using key attributes, including financial (wage_eur) and skill metrics (dribbling, physic, etc.).</a:t>
          </a:r>
        </a:p>
      </dgm:t>
    </dgm:pt>
    <dgm:pt modelId="{361FEA0F-DA41-4B96-87F6-97FBB37CC796}" type="parTrans" cxnId="{E84029C7-B660-480C-9FB2-875CA9000338}">
      <dgm:prSet/>
      <dgm:spPr/>
      <dgm:t>
        <a:bodyPr/>
        <a:lstStyle/>
        <a:p>
          <a:endParaRPr lang="en-US"/>
        </a:p>
      </dgm:t>
    </dgm:pt>
    <dgm:pt modelId="{5429B51A-FFC9-45A1-9ED6-7F3DAF399B7E}" type="sibTrans" cxnId="{E84029C7-B660-480C-9FB2-875CA9000338}">
      <dgm:prSet/>
      <dgm:spPr/>
      <dgm:t>
        <a:bodyPr/>
        <a:lstStyle/>
        <a:p>
          <a:endParaRPr lang="en-US"/>
        </a:p>
      </dgm:t>
    </dgm:pt>
    <dgm:pt modelId="{BBA8BFC0-ABDE-4499-8019-17BC576F1A56}">
      <dgm:prSet/>
      <dgm:spPr/>
      <dgm:t>
        <a:bodyPr/>
        <a:lstStyle/>
        <a:p>
          <a:r>
            <a:rPr lang="en-US"/>
            <a:t>Model Performance:</a:t>
          </a:r>
        </a:p>
      </dgm:t>
    </dgm:pt>
    <dgm:pt modelId="{461439E2-5DFC-4110-9065-0678EB1C1F5C}" type="parTrans" cxnId="{BEE6FE92-75EC-405E-9D3D-EBA5B06AC56D}">
      <dgm:prSet/>
      <dgm:spPr/>
      <dgm:t>
        <a:bodyPr/>
        <a:lstStyle/>
        <a:p>
          <a:endParaRPr lang="en-US"/>
        </a:p>
      </dgm:t>
    </dgm:pt>
    <dgm:pt modelId="{B255C9F5-5F6D-47FB-834E-893ED4E86B67}" type="sibTrans" cxnId="{BEE6FE92-75EC-405E-9D3D-EBA5B06AC56D}">
      <dgm:prSet/>
      <dgm:spPr/>
      <dgm:t>
        <a:bodyPr/>
        <a:lstStyle/>
        <a:p>
          <a:endParaRPr lang="en-US"/>
        </a:p>
      </dgm:t>
    </dgm:pt>
    <dgm:pt modelId="{003B618A-0993-4DCD-A337-1385FE700154}">
      <dgm:prSet/>
      <dgm:spPr/>
      <dgm:t>
        <a:bodyPr/>
        <a:lstStyle/>
        <a:p>
          <a:r>
            <a:rPr lang="en-US"/>
            <a:t>R-squared: 0.8018 (80% variance explained)MSE: 8.92 (indicating good predictive accuracy)</a:t>
          </a:r>
        </a:p>
      </dgm:t>
    </dgm:pt>
    <dgm:pt modelId="{8AAB2BB2-9914-4213-8EDD-95ED5DABA515}" type="parTrans" cxnId="{9A82D287-776D-4712-8906-5E9B4018C345}">
      <dgm:prSet/>
      <dgm:spPr/>
      <dgm:t>
        <a:bodyPr/>
        <a:lstStyle/>
        <a:p>
          <a:endParaRPr lang="en-US"/>
        </a:p>
      </dgm:t>
    </dgm:pt>
    <dgm:pt modelId="{BF2ED052-C59D-481C-8F4A-08C45EFC52FD}" type="sibTrans" cxnId="{9A82D287-776D-4712-8906-5E9B4018C345}">
      <dgm:prSet/>
      <dgm:spPr/>
      <dgm:t>
        <a:bodyPr/>
        <a:lstStyle/>
        <a:p>
          <a:endParaRPr lang="en-US"/>
        </a:p>
      </dgm:t>
    </dgm:pt>
    <dgm:pt modelId="{E9CB86BD-47F5-4543-A8D2-CD6ECA3C026E}">
      <dgm:prSet/>
      <dgm:spPr/>
      <dgm:t>
        <a:bodyPr/>
        <a:lstStyle/>
        <a:p>
          <a:r>
            <a:rPr lang="en-US"/>
            <a:t>Key Insights:</a:t>
          </a:r>
        </a:p>
      </dgm:t>
    </dgm:pt>
    <dgm:pt modelId="{13A7905F-A891-4F41-B38F-8C47824092FB}" type="parTrans" cxnId="{D52FEE5A-E82E-431E-A4EC-1E76F576C1AA}">
      <dgm:prSet/>
      <dgm:spPr/>
      <dgm:t>
        <a:bodyPr/>
        <a:lstStyle/>
        <a:p>
          <a:endParaRPr lang="en-US"/>
        </a:p>
      </dgm:t>
    </dgm:pt>
    <dgm:pt modelId="{21867807-19D3-440A-A0EE-672AED668A84}" type="sibTrans" cxnId="{D52FEE5A-E82E-431E-A4EC-1E76F576C1AA}">
      <dgm:prSet/>
      <dgm:spPr/>
      <dgm:t>
        <a:bodyPr/>
        <a:lstStyle/>
        <a:p>
          <a:endParaRPr lang="en-US"/>
        </a:p>
      </dgm:t>
    </dgm:pt>
    <dgm:pt modelId="{FA1F9C3F-9585-4CD2-92AF-5082B150C827}">
      <dgm:prSet/>
      <dgm:spPr/>
      <dgm:t>
        <a:bodyPr/>
        <a:lstStyle/>
        <a:p>
          <a:r>
            <a:rPr lang="en-US"/>
            <a:t>Significant Predictors: dribbling, physic, and wage_eur contribute strongly to overall rating.Impact: Highlights the importance of both technical skills and financial investment in player valuation.</a:t>
          </a:r>
        </a:p>
      </dgm:t>
    </dgm:pt>
    <dgm:pt modelId="{684A3AB2-623A-40B2-85D1-E4E94C6D4F7E}" type="parTrans" cxnId="{5C70059A-00E6-409B-831C-188BE7DF8C31}">
      <dgm:prSet/>
      <dgm:spPr/>
      <dgm:t>
        <a:bodyPr/>
        <a:lstStyle/>
        <a:p>
          <a:endParaRPr lang="en-US"/>
        </a:p>
      </dgm:t>
    </dgm:pt>
    <dgm:pt modelId="{678FFFC9-6BFE-4035-89C2-EE1606AD2949}" type="sibTrans" cxnId="{5C70059A-00E6-409B-831C-188BE7DF8C31}">
      <dgm:prSet/>
      <dgm:spPr/>
      <dgm:t>
        <a:bodyPr/>
        <a:lstStyle/>
        <a:p>
          <a:endParaRPr lang="en-US"/>
        </a:p>
      </dgm:t>
    </dgm:pt>
    <dgm:pt modelId="{1D434056-F086-4899-BB91-0418189EEDC0}" type="pres">
      <dgm:prSet presAssocID="{8F355A89-9AB7-4C21-B2A1-C94E7C6E8FC7}" presName="Name0" presStyleCnt="0">
        <dgm:presLayoutVars>
          <dgm:dir/>
          <dgm:resizeHandles val="exact"/>
        </dgm:presLayoutVars>
      </dgm:prSet>
      <dgm:spPr/>
    </dgm:pt>
    <dgm:pt modelId="{3AE9BB6D-0A7B-4795-9878-D6E5702590CA}" type="pres">
      <dgm:prSet presAssocID="{827084C6-87D8-4873-82EC-0FD6917CD3A4}" presName="node" presStyleLbl="node1" presStyleIdx="0" presStyleCnt="6">
        <dgm:presLayoutVars>
          <dgm:bulletEnabled val="1"/>
        </dgm:presLayoutVars>
      </dgm:prSet>
      <dgm:spPr/>
    </dgm:pt>
    <dgm:pt modelId="{95016800-7BC1-42AC-8293-5C5AE64E7E73}" type="pres">
      <dgm:prSet presAssocID="{7F07E6D1-E130-4C4F-B1A8-ABD7004B2E8A}" presName="sibTrans" presStyleLbl="sibTrans1D1" presStyleIdx="0" presStyleCnt="5"/>
      <dgm:spPr/>
    </dgm:pt>
    <dgm:pt modelId="{8568D938-9B67-43CF-9F20-631FD73CC34B}" type="pres">
      <dgm:prSet presAssocID="{7F07E6D1-E130-4C4F-B1A8-ABD7004B2E8A}" presName="connectorText" presStyleLbl="sibTrans1D1" presStyleIdx="0" presStyleCnt="5"/>
      <dgm:spPr/>
    </dgm:pt>
    <dgm:pt modelId="{19EFA5B3-C9DE-4DE2-83A5-B4DEB26BDBE7}" type="pres">
      <dgm:prSet presAssocID="{F39B15D3-9951-4A28-869C-9E2D9681FA39}" presName="node" presStyleLbl="node1" presStyleIdx="1" presStyleCnt="6">
        <dgm:presLayoutVars>
          <dgm:bulletEnabled val="1"/>
        </dgm:presLayoutVars>
      </dgm:prSet>
      <dgm:spPr/>
    </dgm:pt>
    <dgm:pt modelId="{8504F2ED-17B0-4EEA-B36C-B4963351190B}" type="pres">
      <dgm:prSet presAssocID="{5429B51A-FFC9-45A1-9ED6-7F3DAF399B7E}" presName="sibTrans" presStyleLbl="sibTrans1D1" presStyleIdx="1" presStyleCnt="5"/>
      <dgm:spPr/>
    </dgm:pt>
    <dgm:pt modelId="{D4201F39-BBDA-4BE6-BDAC-BD120F20000C}" type="pres">
      <dgm:prSet presAssocID="{5429B51A-FFC9-45A1-9ED6-7F3DAF399B7E}" presName="connectorText" presStyleLbl="sibTrans1D1" presStyleIdx="1" presStyleCnt="5"/>
      <dgm:spPr/>
    </dgm:pt>
    <dgm:pt modelId="{63942BB7-2187-4D77-9356-FFEC2A46C667}" type="pres">
      <dgm:prSet presAssocID="{BBA8BFC0-ABDE-4499-8019-17BC576F1A56}" presName="node" presStyleLbl="node1" presStyleIdx="2" presStyleCnt="6">
        <dgm:presLayoutVars>
          <dgm:bulletEnabled val="1"/>
        </dgm:presLayoutVars>
      </dgm:prSet>
      <dgm:spPr/>
    </dgm:pt>
    <dgm:pt modelId="{9C051098-3439-42B1-BA57-11290FE40171}" type="pres">
      <dgm:prSet presAssocID="{B255C9F5-5F6D-47FB-834E-893ED4E86B67}" presName="sibTrans" presStyleLbl="sibTrans1D1" presStyleIdx="2" presStyleCnt="5"/>
      <dgm:spPr/>
    </dgm:pt>
    <dgm:pt modelId="{7B975FC5-519D-4DAB-9C3A-E25557692EE0}" type="pres">
      <dgm:prSet presAssocID="{B255C9F5-5F6D-47FB-834E-893ED4E86B67}" presName="connectorText" presStyleLbl="sibTrans1D1" presStyleIdx="2" presStyleCnt="5"/>
      <dgm:spPr/>
    </dgm:pt>
    <dgm:pt modelId="{FBA04F67-2D60-4C39-B17F-AF30A12DC8A2}" type="pres">
      <dgm:prSet presAssocID="{003B618A-0993-4DCD-A337-1385FE700154}" presName="node" presStyleLbl="node1" presStyleIdx="3" presStyleCnt="6">
        <dgm:presLayoutVars>
          <dgm:bulletEnabled val="1"/>
        </dgm:presLayoutVars>
      </dgm:prSet>
      <dgm:spPr/>
    </dgm:pt>
    <dgm:pt modelId="{951645B8-3CD5-47EF-BFC0-109CFDD4AA97}" type="pres">
      <dgm:prSet presAssocID="{BF2ED052-C59D-481C-8F4A-08C45EFC52FD}" presName="sibTrans" presStyleLbl="sibTrans1D1" presStyleIdx="3" presStyleCnt="5"/>
      <dgm:spPr/>
    </dgm:pt>
    <dgm:pt modelId="{E055D227-D731-4C66-8393-6670A9D5F441}" type="pres">
      <dgm:prSet presAssocID="{BF2ED052-C59D-481C-8F4A-08C45EFC52FD}" presName="connectorText" presStyleLbl="sibTrans1D1" presStyleIdx="3" presStyleCnt="5"/>
      <dgm:spPr/>
    </dgm:pt>
    <dgm:pt modelId="{4E790400-D28D-4654-A230-89FD26C17316}" type="pres">
      <dgm:prSet presAssocID="{E9CB86BD-47F5-4543-A8D2-CD6ECA3C026E}" presName="node" presStyleLbl="node1" presStyleIdx="4" presStyleCnt="6">
        <dgm:presLayoutVars>
          <dgm:bulletEnabled val="1"/>
        </dgm:presLayoutVars>
      </dgm:prSet>
      <dgm:spPr/>
    </dgm:pt>
    <dgm:pt modelId="{B7BDAE22-A4E7-4C91-906E-AB423FA1FD5C}" type="pres">
      <dgm:prSet presAssocID="{21867807-19D3-440A-A0EE-672AED668A84}" presName="sibTrans" presStyleLbl="sibTrans1D1" presStyleIdx="4" presStyleCnt="5"/>
      <dgm:spPr/>
    </dgm:pt>
    <dgm:pt modelId="{D2547B33-74F5-49A4-BBB0-41D0CE5540AD}" type="pres">
      <dgm:prSet presAssocID="{21867807-19D3-440A-A0EE-672AED668A84}" presName="connectorText" presStyleLbl="sibTrans1D1" presStyleIdx="4" presStyleCnt="5"/>
      <dgm:spPr/>
    </dgm:pt>
    <dgm:pt modelId="{586E5A18-C687-4DE5-963A-D2B7323AE05F}" type="pres">
      <dgm:prSet presAssocID="{FA1F9C3F-9585-4CD2-92AF-5082B150C827}" presName="node" presStyleLbl="node1" presStyleIdx="5" presStyleCnt="6">
        <dgm:presLayoutVars>
          <dgm:bulletEnabled val="1"/>
        </dgm:presLayoutVars>
      </dgm:prSet>
      <dgm:spPr/>
    </dgm:pt>
  </dgm:ptLst>
  <dgm:cxnLst>
    <dgm:cxn modelId="{81B05506-1735-4D77-B199-8CAAC626C080}" type="presOf" srcId="{FA1F9C3F-9585-4CD2-92AF-5082B150C827}" destId="{586E5A18-C687-4DE5-963A-D2B7323AE05F}" srcOrd="0" destOrd="0" presId="urn:microsoft.com/office/officeart/2016/7/layout/RepeatingBendingProcessNew"/>
    <dgm:cxn modelId="{D82CB50A-6A4C-40C5-83E8-06F14F270F80}" type="presOf" srcId="{7F07E6D1-E130-4C4F-B1A8-ABD7004B2E8A}" destId="{8568D938-9B67-43CF-9F20-631FD73CC34B}" srcOrd="1" destOrd="0" presId="urn:microsoft.com/office/officeart/2016/7/layout/RepeatingBendingProcessNew"/>
    <dgm:cxn modelId="{88844321-A387-4064-8311-98C7CC43F869}" type="presOf" srcId="{B255C9F5-5F6D-47FB-834E-893ED4E86B67}" destId="{9C051098-3439-42B1-BA57-11290FE40171}" srcOrd="0" destOrd="0" presId="urn:microsoft.com/office/officeart/2016/7/layout/RepeatingBendingProcessNew"/>
    <dgm:cxn modelId="{38744C2E-1115-4127-962B-7B8282F44B3A}" type="presOf" srcId="{E9CB86BD-47F5-4543-A8D2-CD6ECA3C026E}" destId="{4E790400-D28D-4654-A230-89FD26C17316}" srcOrd="0" destOrd="0" presId="urn:microsoft.com/office/officeart/2016/7/layout/RepeatingBendingProcessNew"/>
    <dgm:cxn modelId="{70B8142F-61FB-4647-A08A-32562DEFD72F}" type="presOf" srcId="{BF2ED052-C59D-481C-8F4A-08C45EFC52FD}" destId="{951645B8-3CD5-47EF-BFC0-109CFDD4AA97}" srcOrd="0" destOrd="0" presId="urn:microsoft.com/office/officeart/2016/7/layout/RepeatingBendingProcessNew"/>
    <dgm:cxn modelId="{4552D237-FCDD-4973-B26A-79ADF9B95A1D}" type="presOf" srcId="{7F07E6D1-E130-4C4F-B1A8-ABD7004B2E8A}" destId="{95016800-7BC1-42AC-8293-5C5AE64E7E73}" srcOrd="0" destOrd="0" presId="urn:microsoft.com/office/officeart/2016/7/layout/RepeatingBendingProcessNew"/>
    <dgm:cxn modelId="{23BE855D-1083-4B55-BB06-5D4A392A371E}" type="presOf" srcId="{BF2ED052-C59D-481C-8F4A-08C45EFC52FD}" destId="{E055D227-D731-4C66-8393-6670A9D5F441}" srcOrd="1" destOrd="0" presId="urn:microsoft.com/office/officeart/2016/7/layout/RepeatingBendingProcessNew"/>
    <dgm:cxn modelId="{8D976242-A3A4-478D-8A3E-F22A75EA8AA0}" srcId="{8F355A89-9AB7-4C21-B2A1-C94E7C6E8FC7}" destId="{827084C6-87D8-4873-82EC-0FD6917CD3A4}" srcOrd="0" destOrd="0" parTransId="{79E04860-C097-4739-B4A9-86A2FAF44498}" sibTransId="{7F07E6D1-E130-4C4F-B1A8-ABD7004B2E8A}"/>
    <dgm:cxn modelId="{52C27444-E8AC-474C-8262-8647665C634C}" type="presOf" srcId="{F39B15D3-9951-4A28-869C-9E2D9681FA39}" destId="{19EFA5B3-C9DE-4DE2-83A5-B4DEB26BDBE7}" srcOrd="0" destOrd="0" presId="urn:microsoft.com/office/officeart/2016/7/layout/RepeatingBendingProcessNew"/>
    <dgm:cxn modelId="{86C10C46-D36F-45F9-8908-1908DB59A321}" type="presOf" srcId="{8F355A89-9AB7-4C21-B2A1-C94E7C6E8FC7}" destId="{1D434056-F086-4899-BB91-0418189EEDC0}" srcOrd="0" destOrd="0" presId="urn:microsoft.com/office/officeart/2016/7/layout/RepeatingBendingProcessNew"/>
    <dgm:cxn modelId="{41BE6E66-4C1A-4381-A6F8-7536B04EC7D5}" type="presOf" srcId="{21867807-19D3-440A-A0EE-672AED668A84}" destId="{D2547B33-74F5-49A4-BBB0-41D0CE5540AD}" srcOrd="1" destOrd="0" presId="urn:microsoft.com/office/officeart/2016/7/layout/RepeatingBendingProcessNew"/>
    <dgm:cxn modelId="{27EC6271-50A9-44A5-B94D-84C93CA8C411}" type="presOf" srcId="{B255C9F5-5F6D-47FB-834E-893ED4E86B67}" destId="{7B975FC5-519D-4DAB-9C3A-E25557692EE0}" srcOrd="1" destOrd="0" presId="urn:microsoft.com/office/officeart/2016/7/layout/RepeatingBendingProcessNew"/>
    <dgm:cxn modelId="{D52FEE5A-E82E-431E-A4EC-1E76F576C1AA}" srcId="{8F355A89-9AB7-4C21-B2A1-C94E7C6E8FC7}" destId="{E9CB86BD-47F5-4543-A8D2-CD6ECA3C026E}" srcOrd="4" destOrd="0" parTransId="{13A7905F-A891-4F41-B38F-8C47824092FB}" sibTransId="{21867807-19D3-440A-A0EE-672AED668A84}"/>
    <dgm:cxn modelId="{9A82D287-776D-4712-8906-5E9B4018C345}" srcId="{8F355A89-9AB7-4C21-B2A1-C94E7C6E8FC7}" destId="{003B618A-0993-4DCD-A337-1385FE700154}" srcOrd="3" destOrd="0" parTransId="{8AAB2BB2-9914-4213-8EDD-95ED5DABA515}" sibTransId="{BF2ED052-C59D-481C-8F4A-08C45EFC52FD}"/>
    <dgm:cxn modelId="{BEE6FE92-75EC-405E-9D3D-EBA5B06AC56D}" srcId="{8F355A89-9AB7-4C21-B2A1-C94E7C6E8FC7}" destId="{BBA8BFC0-ABDE-4499-8019-17BC576F1A56}" srcOrd="2" destOrd="0" parTransId="{461439E2-5DFC-4110-9065-0678EB1C1F5C}" sibTransId="{B255C9F5-5F6D-47FB-834E-893ED4E86B67}"/>
    <dgm:cxn modelId="{4532A993-BBA9-4598-85BF-D3AC2328BDA1}" type="presOf" srcId="{5429B51A-FFC9-45A1-9ED6-7F3DAF399B7E}" destId="{D4201F39-BBDA-4BE6-BDAC-BD120F20000C}" srcOrd="1" destOrd="0" presId="urn:microsoft.com/office/officeart/2016/7/layout/RepeatingBendingProcessNew"/>
    <dgm:cxn modelId="{5C70059A-00E6-409B-831C-188BE7DF8C31}" srcId="{8F355A89-9AB7-4C21-B2A1-C94E7C6E8FC7}" destId="{FA1F9C3F-9585-4CD2-92AF-5082B150C827}" srcOrd="5" destOrd="0" parTransId="{684A3AB2-623A-40B2-85D1-E4E94C6D4F7E}" sibTransId="{678FFFC9-6BFE-4035-89C2-EE1606AD2949}"/>
    <dgm:cxn modelId="{4FB945A4-29B8-4319-917A-929A72924C9F}" type="presOf" srcId="{003B618A-0993-4DCD-A337-1385FE700154}" destId="{FBA04F67-2D60-4C39-B17F-AF30A12DC8A2}" srcOrd="0" destOrd="0" presId="urn:microsoft.com/office/officeart/2016/7/layout/RepeatingBendingProcessNew"/>
    <dgm:cxn modelId="{2873AAA6-4ECE-4336-8A07-82CE45C94196}" type="presOf" srcId="{827084C6-87D8-4873-82EC-0FD6917CD3A4}" destId="{3AE9BB6D-0A7B-4795-9878-D6E5702590CA}" srcOrd="0" destOrd="0" presId="urn:microsoft.com/office/officeart/2016/7/layout/RepeatingBendingProcessNew"/>
    <dgm:cxn modelId="{1FD639C5-3853-45E7-BC36-2B236E51E7EB}" type="presOf" srcId="{5429B51A-FFC9-45A1-9ED6-7F3DAF399B7E}" destId="{8504F2ED-17B0-4EEA-B36C-B4963351190B}" srcOrd="0" destOrd="0" presId="urn:microsoft.com/office/officeart/2016/7/layout/RepeatingBendingProcessNew"/>
    <dgm:cxn modelId="{E84029C7-B660-480C-9FB2-875CA9000338}" srcId="{8F355A89-9AB7-4C21-B2A1-C94E7C6E8FC7}" destId="{F39B15D3-9951-4A28-869C-9E2D9681FA39}" srcOrd="1" destOrd="0" parTransId="{361FEA0F-DA41-4B96-87F6-97FBB37CC796}" sibTransId="{5429B51A-FFC9-45A1-9ED6-7F3DAF399B7E}"/>
    <dgm:cxn modelId="{57E1F2C8-D2BB-4EE3-B711-152C7CBEF3EA}" type="presOf" srcId="{BBA8BFC0-ABDE-4499-8019-17BC576F1A56}" destId="{63942BB7-2187-4D77-9356-FFEC2A46C667}" srcOrd="0" destOrd="0" presId="urn:microsoft.com/office/officeart/2016/7/layout/RepeatingBendingProcessNew"/>
    <dgm:cxn modelId="{59DC95CA-4CDF-44BB-A1EA-0C42F9703EF5}" type="presOf" srcId="{21867807-19D3-440A-A0EE-672AED668A84}" destId="{B7BDAE22-A4E7-4C91-906E-AB423FA1FD5C}" srcOrd="0" destOrd="0" presId="urn:microsoft.com/office/officeart/2016/7/layout/RepeatingBendingProcessNew"/>
    <dgm:cxn modelId="{FFC84B7F-4C40-486F-8FA1-19CC83EDB946}" type="presParOf" srcId="{1D434056-F086-4899-BB91-0418189EEDC0}" destId="{3AE9BB6D-0A7B-4795-9878-D6E5702590CA}" srcOrd="0" destOrd="0" presId="urn:microsoft.com/office/officeart/2016/7/layout/RepeatingBendingProcessNew"/>
    <dgm:cxn modelId="{604BB1FB-A1C9-4BEB-B649-B226DAACE914}" type="presParOf" srcId="{1D434056-F086-4899-BB91-0418189EEDC0}" destId="{95016800-7BC1-42AC-8293-5C5AE64E7E73}" srcOrd="1" destOrd="0" presId="urn:microsoft.com/office/officeart/2016/7/layout/RepeatingBendingProcessNew"/>
    <dgm:cxn modelId="{82C28B61-98E9-4A6E-8F8C-A8B216ECA5D5}" type="presParOf" srcId="{95016800-7BC1-42AC-8293-5C5AE64E7E73}" destId="{8568D938-9B67-43CF-9F20-631FD73CC34B}" srcOrd="0" destOrd="0" presId="urn:microsoft.com/office/officeart/2016/7/layout/RepeatingBendingProcessNew"/>
    <dgm:cxn modelId="{96FFAE0C-E274-43EE-B907-0B375AC7D720}" type="presParOf" srcId="{1D434056-F086-4899-BB91-0418189EEDC0}" destId="{19EFA5B3-C9DE-4DE2-83A5-B4DEB26BDBE7}" srcOrd="2" destOrd="0" presId="urn:microsoft.com/office/officeart/2016/7/layout/RepeatingBendingProcessNew"/>
    <dgm:cxn modelId="{DE543F4C-402B-46E7-AAC6-428F7239F40A}" type="presParOf" srcId="{1D434056-F086-4899-BB91-0418189EEDC0}" destId="{8504F2ED-17B0-4EEA-B36C-B4963351190B}" srcOrd="3" destOrd="0" presId="urn:microsoft.com/office/officeart/2016/7/layout/RepeatingBendingProcessNew"/>
    <dgm:cxn modelId="{3B3BC9A1-2798-4CCB-8C36-5F90ABB5008D}" type="presParOf" srcId="{8504F2ED-17B0-4EEA-B36C-B4963351190B}" destId="{D4201F39-BBDA-4BE6-BDAC-BD120F20000C}" srcOrd="0" destOrd="0" presId="urn:microsoft.com/office/officeart/2016/7/layout/RepeatingBendingProcessNew"/>
    <dgm:cxn modelId="{4B80BAA3-AC9A-44B0-891D-28E6174D5B04}" type="presParOf" srcId="{1D434056-F086-4899-BB91-0418189EEDC0}" destId="{63942BB7-2187-4D77-9356-FFEC2A46C667}" srcOrd="4" destOrd="0" presId="urn:microsoft.com/office/officeart/2016/7/layout/RepeatingBendingProcessNew"/>
    <dgm:cxn modelId="{47B0C57D-AE98-47A0-96B5-53D201F76F05}" type="presParOf" srcId="{1D434056-F086-4899-BB91-0418189EEDC0}" destId="{9C051098-3439-42B1-BA57-11290FE40171}" srcOrd="5" destOrd="0" presId="urn:microsoft.com/office/officeart/2016/7/layout/RepeatingBendingProcessNew"/>
    <dgm:cxn modelId="{2F726D11-DABF-4AAC-A8A3-7867FE23E68F}" type="presParOf" srcId="{9C051098-3439-42B1-BA57-11290FE40171}" destId="{7B975FC5-519D-4DAB-9C3A-E25557692EE0}" srcOrd="0" destOrd="0" presId="urn:microsoft.com/office/officeart/2016/7/layout/RepeatingBendingProcessNew"/>
    <dgm:cxn modelId="{00B8755D-15B6-42A7-A959-B1A3D11DCEB6}" type="presParOf" srcId="{1D434056-F086-4899-BB91-0418189EEDC0}" destId="{FBA04F67-2D60-4C39-B17F-AF30A12DC8A2}" srcOrd="6" destOrd="0" presId="urn:microsoft.com/office/officeart/2016/7/layout/RepeatingBendingProcessNew"/>
    <dgm:cxn modelId="{857D2FF1-A334-4FB5-BC64-6FEF2233431D}" type="presParOf" srcId="{1D434056-F086-4899-BB91-0418189EEDC0}" destId="{951645B8-3CD5-47EF-BFC0-109CFDD4AA97}" srcOrd="7" destOrd="0" presId="urn:microsoft.com/office/officeart/2016/7/layout/RepeatingBendingProcessNew"/>
    <dgm:cxn modelId="{543F8F7E-027C-4EFF-9796-F74AA7358156}" type="presParOf" srcId="{951645B8-3CD5-47EF-BFC0-109CFDD4AA97}" destId="{E055D227-D731-4C66-8393-6670A9D5F441}" srcOrd="0" destOrd="0" presId="urn:microsoft.com/office/officeart/2016/7/layout/RepeatingBendingProcessNew"/>
    <dgm:cxn modelId="{310BB7FB-7C5F-44C5-B451-A31E71127793}" type="presParOf" srcId="{1D434056-F086-4899-BB91-0418189EEDC0}" destId="{4E790400-D28D-4654-A230-89FD26C17316}" srcOrd="8" destOrd="0" presId="urn:microsoft.com/office/officeart/2016/7/layout/RepeatingBendingProcessNew"/>
    <dgm:cxn modelId="{96EDA3B1-ADE5-491E-BDB1-E693C9E193B9}" type="presParOf" srcId="{1D434056-F086-4899-BB91-0418189EEDC0}" destId="{B7BDAE22-A4E7-4C91-906E-AB423FA1FD5C}" srcOrd="9" destOrd="0" presId="urn:microsoft.com/office/officeart/2016/7/layout/RepeatingBendingProcessNew"/>
    <dgm:cxn modelId="{E1FA636E-0C9C-45AA-BFC2-9FE6C9FD38D1}" type="presParOf" srcId="{B7BDAE22-A4E7-4C91-906E-AB423FA1FD5C}" destId="{D2547B33-74F5-49A4-BBB0-41D0CE5540AD}" srcOrd="0" destOrd="0" presId="urn:microsoft.com/office/officeart/2016/7/layout/RepeatingBendingProcessNew"/>
    <dgm:cxn modelId="{F4CAB387-A0FC-41D9-BA91-35D66F5A2E83}" type="presParOf" srcId="{1D434056-F086-4899-BB91-0418189EEDC0}" destId="{586E5A18-C687-4DE5-963A-D2B7323AE05F}"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2477DE-5E3E-4211-9990-6E5F5CEC2D4D}" type="doc">
      <dgm:prSet loTypeId="urn:microsoft.com/office/officeart/2016/7/layout/RepeatingBendingProcessNew" loCatId="process" qsTypeId="urn:microsoft.com/office/officeart/2005/8/quickstyle/simple1" qsCatId="simple" csTypeId="urn:microsoft.com/office/officeart/2005/8/colors/accent3_2" csCatId="accent3"/>
      <dgm:spPr/>
      <dgm:t>
        <a:bodyPr/>
        <a:lstStyle/>
        <a:p>
          <a:endParaRPr lang="en-US"/>
        </a:p>
      </dgm:t>
    </dgm:pt>
    <dgm:pt modelId="{0A4034BF-D6A8-4770-AA53-2BDED65FB2BA}">
      <dgm:prSet/>
      <dgm:spPr/>
      <dgm:t>
        <a:bodyPr/>
        <a:lstStyle/>
        <a:p>
          <a:r>
            <a:rPr lang="en-US"/>
            <a:t>Polynomial Regression (Degree 2) with Linear Terms</a:t>
          </a:r>
        </a:p>
      </dgm:t>
    </dgm:pt>
    <dgm:pt modelId="{B4B6D7E5-67F2-430D-9802-2718ACF5D7DE}" type="parTrans" cxnId="{46D1B69A-F86F-4C8B-92F5-B671332CE4C1}">
      <dgm:prSet/>
      <dgm:spPr/>
      <dgm:t>
        <a:bodyPr/>
        <a:lstStyle/>
        <a:p>
          <a:endParaRPr lang="en-US"/>
        </a:p>
      </dgm:t>
    </dgm:pt>
    <dgm:pt modelId="{A0489087-4B19-4784-81DA-EB189AFECB62}" type="sibTrans" cxnId="{46D1B69A-F86F-4C8B-92F5-B671332CE4C1}">
      <dgm:prSet/>
      <dgm:spPr/>
      <dgm:t>
        <a:bodyPr/>
        <a:lstStyle/>
        <a:p>
          <a:endParaRPr lang="en-US"/>
        </a:p>
      </dgm:t>
    </dgm:pt>
    <dgm:pt modelId="{4E6FDB25-FB69-4B20-93EB-8CC3A5400B62}">
      <dgm:prSet/>
      <dgm:spPr/>
      <dgm:t>
        <a:bodyPr/>
        <a:lstStyle/>
        <a:p>
          <a:r>
            <a:rPr lang="en-US"/>
            <a:t>Objective: Use polynomial regression (second-degree) to predict overall player ratings, focusing on both financial and skill-based features.</a:t>
          </a:r>
        </a:p>
      </dgm:t>
    </dgm:pt>
    <dgm:pt modelId="{049D03FD-DBAF-4B37-808B-B6B6FDB58EC3}" type="parTrans" cxnId="{55A32326-3CAC-4CFC-A9D4-B5AD3522C8A7}">
      <dgm:prSet/>
      <dgm:spPr/>
      <dgm:t>
        <a:bodyPr/>
        <a:lstStyle/>
        <a:p>
          <a:endParaRPr lang="en-US"/>
        </a:p>
      </dgm:t>
    </dgm:pt>
    <dgm:pt modelId="{239EA725-41D6-429D-A972-005172083D60}" type="sibTrans" cxnId="{55A32326-3CAC-4CFC-A9D4-B5AD3522C8A7}">
      <dgm:prSet/>
      <dgm:spPr/>
      <dgm:t>
        <a:bodyPr/>
        <a:lstStyle/>
        <a:p>
          <a:endParaRPr lang="en-US"/>
        </a:p>
      </dgm:t>
    </dgm:pt>
    <dgm:pt modelId="{D672F444-A87A-48F2-AE7F-AE1B1D2645FB}">
      <dgm:prSet/>
      <dgm:spPr/>
      <dgm:t>
        <a:bodyPr/>
        <a:lstStyle/>
        <a:p>
          <a:r>
            <a:rPr lang="en-US"/>
            <a:t>Model Performance:</a:t>
          </a:r>
        </a:p>
      </dgm:t>
    </dgm:pt>
    <dgm:pt modelId="{9944D051-AB24-472D-84C3-02DC98052F90}" type="parTrans" cxnId="{EE34926E-39D3-4150-B555-0873F280DB80}">
      <dgm:prSet/>
      <dgm:spPr/>
      <dgm:t>
        <a:bodyPr/>
        <a:lstStyle/>
        <a:p>
          <a:endParaRPr lang="en-US"/>
        </a:p>
      </dgm:t>
    </dgm:pt>
    <dgm:pt modelId="{A45B3587-47DC-45F0-B78A-1FBDF646EB31}" type="sibTrans" cxnId="{EE34926E-39D3-4150-B555-0873F280DB80}">
      <dgm:prSet/>
      <dgm:spPr/>
      <dgm:t>
        <a:bodyPr/>
        <a:lstStyle/>
        <a:p>
          <a:endParaRPr lang="en-US"/>
        </a:p>
      </dgm:t>
    </dgm:pt>
    <dgm:pt modelId="{F3E63409-12F9-48BC-999E-4A680ECE1468}">
      <dgm:prSet/>
      <dgm:spPr/>
      <dgm:t>
        <a:bodyPr/>
        <a:lstStyle/>
        <a:p>
          <a:r>
            <a:rPr lang="en-US"/>
            <a:t>R-squared: 0.9542 (95% of variance explained)MSE: 2.06 (higher precision than linear regression)</a:t>
          </a:r>
        </a:p>
      </dgm:t>
    </dgm:pt>
    <dgm:pt modelId="{F80C1C32-1A11-447F-9146-A9E21BEBF448}" type="parTrans" cxnId="{4C880380-1540-44CB-8266-BAE285026CF7}">
      <dgm:prSet/>
      <dgm:spPr/>
      <dgm:t>
        <a:bodyPr/>
        <a:lstStyle/>
        <a:p>
          <a:endParaRPr lang="en-US"/>
        </a:p>
      </dgm:t>
    </dgm:pt>
    <dgm:pt modelId="{546EA69C-EDD5-4347-B424-A70C58114C0B}" type="sibTrans" cxnId="{4C880380-1540-44CB-8266-BAE285026CF7}">
      <dgm:prSet/>
      <dgm:spPr/>
      <dgm:t>
        <a:bodyPr/>
        <a:lstStyle/>
        <a:p>
          <a:endParaRPr lang="en-US"/>
        </a:p>
      </dgm:t>
    </dgm:pt>
    <dgm:pt modelId="{B142E6EF-F855-4513-8B47-8DBBA0146EB2}">
      <dgm:prSet/>
      <dgm:spPr/>
      <dgm:t>
        <a:bodyPr/>
        <a:lstStyle/>
        <a:p>
          <a:r>
            <a:rPr lang="en-US"/>
            <a:t>Key Insights:</a:t>
          </a:r>
        </a:p>
      </dgm:t>
    </dgm:pt>
    <dgm:pt modelId="{52AB7714-0DF2-44E0-9FA2-39B0707C459A}" type="parTrans" cxnId="{1DF13986-8EFB-4797-BFCC-68F7244D5340}">
      <dgm:prSet/>
      <dgm:spPr/>
      <dgm:t>
        <a:bodyPr/>
        <a:lstStyle/>
        <a:p>
          <a:endParaRPr lang="en-US"/>
        </a:p>
      </dgm:t>
    </dgm:pt>
    <dgm:pt modelId="{89FC7024-9E69-46B9-8D7D-18B3B524BB8E}" type="sibTrans" cxnId="{1DF13986-8EFB-4797-BFCC-68F7244D5340}">
      <dgm:prSet/>
      <dgm:spPr/>
      <dgm:t>
        <a:bodyPr/>
        <a:lstStyle/>
        <a:p>
          <a:endParaRPr lang="en-US"/>
        </a:p>
      </dgm:t>
    </dgm:pt>
    <dgm:pt modelId="{ACF4D67D-136B-45DE-BF5E-E2B245111231}">
      <dgm:prSet/>
      <dgm:spPr/>
      <dgm:t>
        <a:bodyPr/>
        <a:lstStyle/>
        <a:p>
          <a:r>
            <a:rPr lang="en-US"/>
            <a:t>Significant contributors include wage_eur, age, and complex skill interactions.</a:t>
          </a:r>
        </a:p>
      </dgm:t>
    </dgm:pt>
    <dgm:pt modelId="{25FBBA97-DE88-4CA8-98A1-84F00CBF5B4E}" type="parTrans" cxnId="{D15BA18F-E785-4DAE-A68F-3032D69E63DB}">
      <dgm:prSet/>
      <dgm:spPr/>
      <dgm:t>
        <a:bodyPr/>
        <a:lstStyle/>
        <a:p>
          <a:endParaRPr lang="en-US"/>
        </a:p>
      </dgm:t>
    </dgm:pt>
    <dgm:pt modelId="{638FAF2D-88E0-4A58-918A-7B75475D3613}" type="sibTrans" cxnId="{D15BA18F-E785-4DAE-A68F-3032D69E63DB}">
      <dgm:prSet/>
      <dgm:spPr/>
      <dgm:t>
        <a:bodyPr/>
        <a:lstStyle/>
        <a:p>
          <a:endParaRPr lang="en-US"/>
        </a:p>
      </dgm:t>
    </dgm:pt>
    <dgm:pt modelId="{B439F61B-9F6C-453B-BFDE-7A422A824E74}">
      <dgm:prSet/>
      <dgm:spPr/>
      <dgm:t>
        <a:bodyPr/>
        <a:lstStyle/>
        <a:p>
          <a:r>
            <a:rPr lang="en-US"/>
            <a:t>Higher accuracy: Incorporating non-linear relationships among skill metrics results in improved predictive power.</a:t>
          </a:r>
        </a:p>
      </dgm:t>
    </dgm:pt>
    <dgm:pt modelId="{85F8F8BB-5E90-4A43-87DF-28356D82E96C}" type="parTrans" cxnId="{9EB6E027-9A92-4C87-A8F4-480440D8B448}">
      <dgm:prSet/>
      <dgm:spPr/>
      <dgm:t>
        <a:bodyPr/>
        <a:lstStyle/>
        <a:p>
          <a:endParaRPr lang="en-US"/>
        </a:p>
      </dgm:t>
    </dgm:pt>
    <dgm:pt modelId="{67385A35-BDF7-4037-B6E3-9521C2D9B6E2}" type="sibTrans" cxnId="{9EB6E027-9A92-4C87-A8F4-480440D8B448}">
      <dgm:prSet/>
      <dgm:spPr/>
      <dgm:t>
        <a:bodyPr/>
        <a:lstStyle/>
        <a:p>
          <a:endParaRPr lang="en-US"/>
        </a:p>
      </dgm:t>
    </dgm:pt>
    <dgm:pt modelId="{EDF89758-1D1D-409B-9354-210138E0D116}">
      <dgm:prSet/>
      <dgm:spPr/>
      <dgm:t>
        <a:bodyPr/>
        <a:lstStyle/>
        <a:p>
          <a:r>
            <a:rPr lang="en-US"/>
            <a:t>Interpretation: The model captures complex interactions in player skills and financial metrics, offering a more nuanced view of player ratings than linear regression.</a:t>
          </a:r>
        </a:p>
      </dgm:t>
    </dgm:pt>
    <dgm:pt modelId="{6F112595-FC19-4AFC-9E19-74897383F6F5}" type="parTrans" cxnId="{DE053339-906B-4CB0-8C57-B89E05EAC49B}">
      <dgm:prSet/>
      <dgm:spPr/>
      <dgm:t>
        <a:bodyPr/>
        <a:lstStyle/>
        <a:p>
          <a:endParaRPr lang="en-US"/>
        </a:p>
      </dgm:t>
    </dgm:pt>
    <dgm:pt modelId="{9F10B507-4034-4C5B-B4E4-D728CE39A444}" type="sibTrans" cxnId="{DE053339-906B-4CB0-8C57-B89E05EAC49B}">
      <dgm:prSet/>
      <dgm:spPr/>
      <dgm:t>
        <a:bodyPr/>
        <a:lstStyle/>
        <a:p>
          <a:endParaRPr lang="en-US"/>
        </a:p>
      </dgm:t>
    </dgm:pt>
    <dgm:pt modelId="{87D2F518-F8E8-4A93-BDEE-E32EF1360874}" type="pres">
      <dgm:prSet presAssocID="{8A2477DE-5E3E-4211-9990-6E5F5CEC2D4D}" presName="Name0" presStyleCnt="0">
        <dgm:presLayoutVars>
          <dgm:dir/>
          <dgm:resizeHandles val="exact"/>
        </dgm:presLayoutVars>
      </dgm:prSet>
      <dgm:spPr/>
    </dgm:pt>
    <dgm:pt modelId="{2EB23101-E8D9-43DF-B918-1C87601AA63A}" type="pres">
      <dgm:prSet presAssocID="{0A4034BF-D6A8-4770-AA53-2BDED65FB2BA}" presName="node" presStyleLbl="node1" presStyleIdx="0" presStyleCnt="8">
        <dgm:presLayoutVars>
          <dgm:bulletEnabled val="1"/>
        </dgm:presLayoutVars>
      </dgm:prSet>
      <dgm:spPr/>
    </dgm:pt>
    <dgm:pt modelId="{1A4DC2D0-824A-4B09-9632-6D3B10DEA569}" type="pres">
      <dgm:prSet presAssocID="{A0489087-4B19-4784-81DA-EB189AFECB62}" presName="sibTrans" presStyleLbl="sibTrans1D1" presStyleIdx="0" presStyleCnt="7"/>
      <dgm:spPr/>
    </dgm:pt>
    <dgm:pt modelId="{9BF66FD9-8D8E-4EC8-AAF0-07D1B98439DD}" type="pres">
      <dgm:prSet presAssocID="{A0489087-4B19-4784-81DA-EB189AFECB62}" presName="connectorText" presStyleLbl="sibTrans1D1" presStyleIdx="0" presStyleCnt="7"/>
      <dgm:spPr/>
    </dgm:pt>
    <dgm:pt modelId="{60CDF381-CA2B-46FB-9AC7-6BAEDF9CF943}" type="pres">
      <dgm:prSet presAssocID="{4E6FDB25-FB69-4B20-93EB-8CC3A5400B62}" presName="node" presStyleLbl="node1" presStyleIdx="1" presStyleCnt="8">
        <dgm:presLayoutVars>
          <dgm:bulletEnabled val="1"/>
        </dgm:presLayoutVars>
      </dgm:prSet>
      <dgm:spPr/>
    </dgm:pt>
    <dgm:pt modelId="{A54902B2-0D21-49D6-ABC9-2EC74564238F}" type="pres">
      <dgm:prSet presAssocID="{239EA725-41D6-429D-A972-005172083D60}" presName="sibTrans" presStyleLbl="sibTrans1D1" presStyleIdx="1" presStyleCnt="7"/>
      <dgm:spPr/>
    </dgm:pt>
    <dgm:pt modelId="{9B1C32C8-39BA-4321-BF71-05E413D40216}" type="pres">
      <dgm:prSet presAssocID="{239EA725-41D6-429D-A972-005172083D60}" presName="connectorText" presStyleLbl="sibTrans1D1" presStyleIdx="1" presStyleCnt="7"/>
      <dgm:spPr/>
    </dgm:pt>
    <dgm:pt modelId="{C1A7BFA7-9AE3-4B22-A032-4A804B256427}" type="pres">
      <dgm:prSet presAssocID="{D672F444-A87A-48F2-AE7F-AE1B1D2645FB}" presName="node" presStyleLbl="node1" presStyleIdx="2" presStyleCnt="8">
        <dgm:presLayoutVars>
          <dgm:bulletEnabled val="1"/>
        </dgm:presLayoutVars>
      </dgm:prSet>
      <dgm:spPr/>
    </dgm:pt>
    <dgm:pt modelId="{3CF960B8-6A23-475C-ABAF-59C237AB7CEF}" type="pres">
      <dgm:prSet presAssocID="{A45B3587-47DC-45F0-B78A-1FBDF646EB31}" presName="sibTrans" presStyleLbl="sibTrans1D1" presStyleIdx="2" presStyleCnt="7"/>
      <dgm:spPr/>
    </dgm:pt>
    <dgm:pt modelId="{6CF123B7-294C-45C8-9430-BD1F3714B735}" type="pres">
      <dgm:prSet presAssocID="{A45B3587-47DC-45F0-B78A-1FBDF646EB31}" presName="connectorText" presStyleLbl="sibTrans1D1" presStyleIdx="2" presStyleCnt="7"/>
      <dgm:spPr/>
    </dgm:pt>
    <dgm:pt modelId="{B3AB62F7-2B1B-4583-B3B0-4BD903335CD3}" type="pres">
      <dgm:prSet presAssocID="{F3E63409-12F9-48BC-999E-4A680ECE1468}" presName="node" presStyleLbl="node1" presStyleIdx="3" presStyleCnt="8">
        <dgm:presLayoutVars>
          <dgm:bulletEnabled val="1"/>
        </dgm:presLayoutVars>
      </dgm:prSet>
      <dgm:spPr/>
    </dgm:pt>
    <dgm:pt modelId="{42B606A0-63E0-45D7-A816-1BD3B7DC481D}" type="pres">
      <dgm:prSet presAssocID="{546EA69C-EDD5-4347-B424-A70C58114C0B}" presName="sibTrans" presStyleLbl="sibTrans1D1" presStyleIdx="3" presStyleCnt="7"/>
      <dgm:spPr/>
    </dgm:pt>
    <dgm:pt modelId="{AE073534-F061-4E41-9028-D9B91A399D58}" type="pres">
      <dgm:prSet presAssocID="{546EA69C-EDD5-4347-B424-A70C58114C0B}" presName="connectorText" presStyleLbl="sibTrans1D1" presStyleIdx="3" presStyleCnt="7"/>
      <dgm:spPr/>
    </dgm:pt>
    <dgm:pt modelId="{BD039AE7-D189-4B89-AD50-49EECCE1AB40}" type="pres">
      <dgm:prSet presAssocID="{B142E6EF-F855-4513-8B47-8DBBA0146EB2}" presName="node" presStyleLbl="node1" presStyleIdx="4" presStyleCnt="8">
        <dgm:presLayoutVars>
          <dgm:bulletEnabled val="1"/>
        </dgm:presLayoutVars>
      </dgm:prSet>
      <dgm:spPr/>
    </dgm:pt>
    <dgm:pt modelId="{010BD200-4986-42BA-841F-D4162EE04B63}" type="pres">
      <dgm:prSet presAssocID="{89FC7024-9E69-46B9-8D7D-18B3B524BB8E}" presName="sibTrans" presStyleLbl="sibTrans1D1" presStyleIdx="4" presStyleCnt="7"/>
      <dgm:spPr/>
    </dgm:pt>
    <dgm:pt modelId="{84AA3918-C73C-4C74-BAF4-F56E457229F2}" type="pres">
      <dgm:prSet presAssocID="{89FC7024-9E69-46B9-8D7D-18B3B524BB8E}" presName="connectorText" presStyleLbl="sibTrans1D1" presStyleIdx="4" presStyleCnt="7"/>
      <dgm:spPr/>
    </dgm:pt>
    <dgm:pt modelId="{B7E09389-CDD7-4981-BD77-F33D23B66F71}" type="pres">
      <dgm:prSet presAssocID="{ACF4D67D-136B-45DE-BF5E-E2B245111231}" presName="node" presStyleLbl="node1" presStyleIdx="5" presStyleCnt="8">
        <dgm:presLayoutVars>
          <dgm:bulletEnabled val="1"/>
        </dgm:presLayoutVars>
      </dgm:prSet>
      <dgm:spPr/>
    </dgm:pt>
    <dgm:pt modelId="{26178F07-82C0-4AD1-8032-72A9B696C77B}" type="pres">
      <dgm:prSet presAssocID="{638FAF2D-88E0-4A58-918A-7B75475D3613}" presName="sibTrans" presStyleLbl="sibTrans1D1" presStyleIdx="5" presStyleCnt="7"/>
      <dgm:spPr/>
    </dgm:pt>
    <dgm:pt modelId="{2284717A-4277-4C1C-A542-79C3792211EA}" type="pres">
      <dgm:prSet presAssocID="{638FAF2D-88E0-4A58-918A-7B75475D3613}" presName="connectorText" presStyleLbl="sibTrans1D1" presStyleIdx="5" presStyleCnt="7"/>
      <dgm:spPr/>
    </dgm:pt>
    <dgm:pt modelId="{5639A2E4-7181-46F6-AFC7-37B3A0ECEBBC}" type="pres">
      <dgm:prSet presAssocID="{B439F61B-9F6C-453B-BFDE-7A422A824E74}" presName="node" presStyleLbl="node1" presStyleIdx="6" presStyleCnt="8">
        <dgm:presLayoutVars>
          <dgm:bulletEnabled val="1"/>
        </dgm:presLayoutVars>
      </dgm:prSet>
      <dgm:spPr/>
    </dgm:pt>
    <dgm:pt modelId="{F2C52C87-074B-4253-8896-FE35B0AA58EE}" type="pres">
      <dgm:prSet presAssocID="{67385A35-BDF7-4037-B6E3-9521C2D9B6E2}" presName="sibTrans" presStyleLbl="sibTrans1D1" presStyleIdx="6" presStyleCnt="7"/>
      <dgm:spPr/>
    </dgm:pt>
    <dgm:pt modelId="{12824531-BB4D-4699-A4D2-BDCADB97CD68}" type="pres">
      <dgm:prSet presAssocID="{67385A35-BDF7-4037-B6E3-9521C2D9B6E2}" presName="connectorText" presStyleLbl="sibTrans1D1" presStyleIdx="6" presStyleCnt="7"/>
      <dgm:spPr/>
    </dgm:pt>
    <dgm:pt modelId="{61367AF5-A0AB-4A80-9329-876F5E186222}" type="pres">
      <dgm:prSet presAssocID="{EDF89758-1D1D-409B-9354-210138E0D116}" presName="node" presStyleLbl="node1" presStyleIdx="7" presStyleCnt="8">
        <dgm:presLayoutVars>
          <dgm:bulletEnabled val="1"/>
        </dgm:presLayoutVars>
      </dgm:prSet>
      <dgm:spPr/>
    </dgm:pt>
  </dgm:ptLst>
  <dgm:cxnLst>
    <dgm:cxn modelId="{53BA6907-4F79-4301-ACB8-4DB3F4B28CB6}" type="presOf" srcId="{89FC7024-9E69-46B9-8D7D-18B3B524BB8E}" destId="{010BD200-4986-42BA-841F-D4162EE04B63}" srcOrd="0" destOrd="0" presId="urn:microsoft.com/office/officeart/2016/7/layout/RepeatingBendingProcessNew"/>
    <dgm:cxn modelId="{67CF4423-2FA3-4ED8-B4E2-445EEBC6366B}" type="presOf" srcId="{67385A35-BDF7-4037-B6E3-9521C2D9B6E2}" destId="{12824531-BB4D-4699-A4D2-BDCADB97CD68}" srcOrd="1" destOrd="0" presId="urn:microsoft.com/office/officeart/2016/7/layout/RepeatingBendingProcessNew"/>
    <dgm:cxn modelId="{6F068424-548A-44C6-9340-0F893DE103AB}" type="presOf" srcId="{EDF89758-1D1D-409B-9354-210138E0D116}" destId="{61367AF5-A0AB-4A80-9329-876F5E186222}" srcOrd="0" destOrd="0" presId="urn:microsoft.com/office/officeart/2016/7/layout/RepeatingBendingProcessNew"/>
    <dgm:cxn modelId="{55A32326-3CAC-4CFC-A9D4-B5AD3522C8A7}" srcId="{8A2477DE-5E3E-4211-9990-6E5F5CEC2D4D}" destId="{4E6FDB25-FB69-4B20-93EB-8CC3A5400B62}" srcOrd="1" destOrd="0" parTransId="{049D03FD-DBAF-4B37-808B-B6B6FDB58EC3}" sibTransId="{239EA725-41D6-429D-A972-005172083D60}"/>
    <dgm:cxn modelId="{9EB6E027-9A92-4C87-A8F4-480440D8B448}" srcId="{8A2477DE-5E3E-4211-9990-6E5F5CEC2D4D}" destId="{B439F61B-9F6C-453B-BFDE-7A422A824E74}" srcOrd="6" destOrd="0" parTransId="{85F8F8BB-5E90-4A43-87DF-28356D82E96C}" sibTransId="{67385A35-BDF7-4037-B6E3-9521C2D9B6E2}"/>
    <dgm:cxn modelId="{97C94E28-A8BC-4112-B826-87EA677EA229}" type="presOf" srcId="{F3E63409-12F9-48BC-999E-4A680ECE1468}" destId="{B3AB62F7-2B1B-4583-B3B0-4BD903335CD3}" srcOrd="0" destOrd="0" presId="urn:microsoft.com/office/officeart/2016/7/layout/RepeatingBendingProcessNew"/>
    <dgm:cxn modelId="{7F5E2A30-DA64-4AB2-A420-751DA98819DE}" type="presOf" srcId="{B142E6EF-F855-4513-8B47-8DBBA0146EB2}" destId="{BD039AE7-D189-4B89-AD50-49EECCE1AB40}" srcOrd="0" destOrd="0" presId="urn:microsoft.com/office/officeart/2016/7/layout/RepeatingBendingProcessNew"/>
    <dgm:cxn modelId="{DE053339-906B-4CB0-8C57-B89E05EAC49B}" srcId="{8A2477DE-5E3E-4211-9990-6E5F5CEC2D4D}" destId="{EDF89758-1D1D-409B-9354-210138E0D116}" srcOrd="7" destOrd="0" parTransId="{6F112595-FC19-4AFC-9E19-74897383F6F5}" sibTransId="{9F10B507-4034-4C5B-B4E4-D728CE39A444}"/>
    <dgm:cxn modelId="{99A1003E-4FD9-4794-8439-35E400633A5F}" type="presOf" srcId="{A0489087-4B19-4784-81DA-EB189AFECB62}" destId="{9BF66FD9-8D8E-4EC8-AAF0-07D1B98439DD}" srcOrd="1" destOrd="0" presId="urn:microsoft.com/office/officeart/2016/7/layout/RepeatingBendingProcessNew"/>
    <dgm:cxn modelId="{647BFC40-005B-433B-8E8B-9D2A380D178F}" type="presOf" srcId="{4E6FDB25-FB69-4B20-93EB-8CC3A5400B62}" destId="{60CDF381-CA2B-46FB-9AC7-6BAEDF9CF943}" srcOrd="0" destOrd="0" presId="urn:microsoft.com/office/officeart/2016/7/layout/RepeatingBendingProcessNew"/>
    <dgm:cxn modelId="{1E2E924B-A99B-4908-8ABE-35130DD1BCB0}" type="presOf" srcId="{A0489087-4B19-4784-81DA-EB189AFECB62}" destId="{1A4DC2D0-824A-4B09-9632-6D3B10DEA569}" srcOrd="0" destOrd="0" presId="urn:microsoft.com/office/officeart/2016/7/layout/RepeatingBendingProcessNew"/>
    <dgm:cxn modelId="{64A83B4E-B8B9-4C30-81D0-31546E1C765D}" type="presOf" srcId="{D672F444-A87A-48F2-AE7F-AE1B1D2645FB}" destId="{C1A7BFA7-9AE3-4B22-A032-4A804B256427}" srcOrd="0" destOrd="0" presId="urn:microsoft.com/office/officeart/2016/7/layout/RepeatingBendingProcessNew"/>
    <dgm:cxn modelId="{EE34926E-39D3-4150-B555-0873F280DB80}" srcId="{8A2477DE-5E3E-4211-9990-6E5F5CEC2D4D}" destId="{D672F444-A87A-48F2-AE7F-AE1B1D2645FB}" srcOrd="2" destOrd="0" parTransId="{9944D051-AB24-472D-84C3-02DC98052F90}" sibTransId="{A45B3587-47DC-45F0-B78A-1FBDF646EB31}"/>
    <dgm:cxn modelId="{2033CF51-0A13-4420-B2F2-9F028A5B09D6}" type="presOf" srcId="{546EA69C-EDD5-4347-B424-A70C58114C0B}" destId="{AE073534-F061-4E41-9028-D9B91A399D58}" srcOrd="1" destOrd="0" presId="urn:microsoft.com/office/officeart/2016/7/layout/RepeatingBendingProcessNew"/>
    <dgm:cxn modelId="{4CCF1658-D103-4A00-8416-781B1D84B34F}" type="presOf" srcId="{89FC7024-9E69-46B9-8D7D-18B3B524BB8E}" destId="{84AA3918-C73C-4C74-BAF4-F56E457229F2}" srcOrd="1" destOrd="0" presId="urn:microsoft.com/office/officeart/2016/7/layout/RepeatingBendingProcessNew"/>
    <dgm:cxn modelId="{77E8FA7B-7E2C-453E-903A-208C2913A30C}" type="presOf" srcId="{239EA725-41D6-429D-A972-005172083D60}" destId="{9B1C32C8-39BA-4321-BF71-05E413D40216}" srcOrd="1" destOrd="0" presId="urn:microsoft.com/office/officeart/2016/7/layout/RepeatingBendingProcessNew"/>
    <dgm:cxn modelId="{4C880380-1540-44CB-8266-BAE285026CF7}" srcId="{8A2477DE-5E3E-4211-9990-6E5F5CEC2D4D}" destId="{F3E63409-12F9-48BC-999E-4A680ECE1468}" srcOrd="3" destOrd="0" parTransId="{F80C1C32-1A11-447F-9146-A9E21BEBF448}" sibTransId="{546EA69C-EDD5-4347-B424-A70C58114C0B}"/>
    <dgm:cxn modelId="{1DF13986-8EFB-4797-BFCC-68F7244D5340}" srcId="{8A2477DE-5E3E-4211-9990-6E5F5CEC2D4D}" destId="{B142E6EF-F855-4513-8B47-8DBBA0146EB2}" srcOrd="4" destOrd="0" parTransId="{52AB7714-0DF2-44E0-9FA2-39B0707C459A}" sibTransId="{89FC7024-9E69-46B9-8D7D-18B3B524BB8E}"/>
    <dgm:cxn modelId="{D15BA18F-E785-4DAE-A68F-3032D69E63DB}" srcId="{8A2477DE-5E3E-4211-9990-6E5F5CEC2D4D}" destId="{ACF4D67D-136B-45DE-BF5E-E2B245111231}" srcOrd="5" destOrd="0" parTransId="{25FBBA97-DE88-4CA8-98A1-84F00CBF5B4E}" sibTransId="{638FAF2D-88E0-4A58-918A-7B75475D3613}"/>
    <dgm:cxn modelId="{46D1B69A-F86F-4C8B-92F5-B671332CE4C1}" srcId="{8A2477DE-5E3E-4211-9990-6E5F5CEC2D4D}" destId="{0A4034BF-D6A8-4770-AA53-2BDED65FB2BA}" srcOrd="0" destOrd="0" parTransId="{B4B6D7E5-67F2-430D-9802-2718ACF5D7DE}" sibTransId="{A0489087-4B19-4784-81DA-EB189AFECB62}"/>
    <dgm:cxn modelId="{B54ECAAC-F393-4E33-9D5A-5A3BED5FEDBA}" type="presOf" srcId="{546EA69C-EDD5-4347-B424-A70C58114C0B}" destId="{42B606A0-63E0-45D7-A816-1BD3B7DC481D}" srcOrd="0" destOrd="0" presId="urn:microsoft.com/office/officeart/2016/7/layout/RepeatingBendingProcessNew"/>
    <dgm:cxn modelId="{FCCC28B4-22EC-4560-BF45-ADCC8D91D34E}" type="presOf" srcId="{B439F61B-9F6C-453B-BFDE-7A422A824E74}" destId="{5639A2E4-7181-46F6-AFC7-37B3A0ECEBBC}" srcOrd="0" destOrd="0" presId="urn:microsoft.com/office/officeart/2016/7/layout/RepeatingBendingProcessNew"/>
    <dgm:cxn modelId="{195D1AB8-6A0C-442E-87FB-489D9E872200}" type="presOf" srcId="{67385A35-BDF7-4037-B6E3-9521C2D9B6E2}" destId="{F2C52C87-074B-4253-8896-FE35B0AA58EE}" srcOrd="0" destOrd="0" presId="urn:microsoft.com/office/officeart/2016/7/layout/RepeatingBendingProcessNew"/>
    <dgm:cxn modelId="{E12318C5-809B-4AF1-88BD-79691C2BF30A}" type="presOf" srcId="{A45B3587-47DC-45F0-B78A-1FBDF646EB31}" destId="{3CF960B8-6A23-475C-ABAF-59C237AB7CEF}" srcOrd="0" destOrd="0" presId="urn:microsoft.com/office/officeart/2016/7/layout/RepeatingBendingProcessNew"/>
    <dgm:cxn modelId="{BCA73CCC-6B8F-4161-A74F-2D850603B62D}" type="presOf" srcId="{8A2477DE-5E3E-4211-9990-6E5F5CEC2D4D}" destId="{87D2F518-F8E8-4A93-BDEE-E32EF1360874}" srcOrd="0" destOrd="0" presId="urn:microsoft.com/office/officeart/2016/7/layout/RepeatingBendingProcessNew"/>
    <dgm:cxn modelId="{90D339D8-E2CE-4A77-AA84-26E7F52BF324}" type="presOf" srcId="{ACF4D67D-136B-45DE-BF5E-E2B245111231}" destId="{B7E09389-CDD7-4981-BD77-F33D23B66F71}" srcOrd="0" destOrd="0" presId="urn:microsoft.com/office/officeart/2016/7/layout/RepeatingBendingProcessNew"/>
    <dgm:cxn modelId="{F893EADD-6773-4BAA-8265-A85A87DD4FC3}" type="presOf" srcId="{638FAF2D-88E0-4A58-918A-7B75475D3613}" destId="{26178F07-82C0-4AD1-8032-72A9B696C77B}" srcOrd="0" destOrd="0" presId="urn:microsoft.com/office/officeart/2016/7/layout/RepeatingBendingProcessNew"/>
    <dgm:cxn modelId="{A6DDDEE1-6F79-46E8-BA13-0A4669D01243}" type="presOf" srcId="{0A4034BF-D6A8-4770-AA53-2BDED65FB2BA}" destId="{2EB23101-E8D9-43DF-B918-1C87601AA63A}" srcOrd="0" destOrd="0" presId="urn:microsoft.com/office/officeart/2016/7/layout/RepeatingBendingProcessNew"/>
    <dgm:cxn modelId="{1ED68BEF-011F-49A2-B2F1-2786C715FAA0}" type="presOf" srcId="{638FAF2D-88E0-4A58-918A-7B75475D3613}" destId="{2284717A-4277-4C1C-A542-79C3792211EA}" srcOrd="1" destOrd="0" presId="urn:microsoft.com/office/officeart/2016/7/layout/RepeatingBendingProcessNew"/>
    <dgm:cxn modelId="{195F04F4-330F-4F82-9ADF-0C714894434C}" type="presOf" srcId="{239EA725-41D6-429D-A972-005172083D60}" destId="{A54902B2-0D21-49D6-ABC9-2EC74564238F}" srcOrd="0" destOrd="0" presId="urn:microsoft.com/office/officeart/2016/7/layout/RepeatingBendingProcessNew"/>
    <dgm:cxn modelId="{149D9CFE-C312-432B-B7D7-252DF5F09CF0}" type="presOf" srcId="{A45B3587-47DC-45F0-B78A-1FBDF646EB31}" destId="{6CF123B7-294C-45C8-9430-BD1F3714B735}" srcOrd="1" destOrd="0" presId="urn:microsoft.com/office/officeart/2016/7/layout/RepeatingBendingProcessNew"/>
    <dgm:cxn modelId="{3ECDC5CE-C720-4502-975F-EB56350644AD}" type="presParOf" srcId="{87D2F518-F8E8-4A93-BDEE-E32EF1360874}" destId="{2EB23101-E8D9-43DF-B918-1C87601AA63A}" srcOrd="0" destOrd="0" presId="urn:microsoft.com/office/officeart/2016/7/layout/RepeatingBendingProcessNew"/>
    <dgm:cxn modelId="{C9548463-89D0-446B-97DA-254A50E107D7}" type="presParOf" srcId="{87D2F518-F8E8-4A93-BDEE-E32EF1360874}" destId="{1A4DC2D0-824A-4B09-9632-6D3B10DEA569}" srcOrd="1" destOrd="0" presId="urn:microsoft.com/office/officeart/2016/7/layout/RepeatingBendingProcessNew"/>
    <dgm:cxn modelId="{7CD90429-EBD9-406A-B2B1-FBEE6AF71E7D}" type="presParOf" srcId="{1A4DC2D0-824A-4B09-9632-6D3B10DEA569}" destId="{9BF66FD9-8D8E-4EC8-AAF0-07D1B98439DD}" srcOrd="0" destOrd="0" presId="urn:microsoft.com/office/officeart/2016/7/layout/RepeatingBendingProcessNew"/>
    <dgm:cxn modelId="{9EFE70AA-B6FC-4EAC-944D-3F32F4D171D5}" type="presParOf" srcId="{87D2F518-F8E8-4A93-BDEE-E32EF1360874}" destId="{60CDF381-CA2B-46FB-9AC7-6BAEDF9CF943}" srcOrd="2" destOrd="0" presId="urn:microsoft.com/office/officeart/2016/7/layout/RepeatingBendingProcessNew"/>
    <dgm:cxn modelId="{E54FECAD-122A-4447-A6B6-C6FFCB43ADA0}" type="presParOf" srcId="{87D2F518-F8E8-4A93-BDEE-E32EF1360874}" destId="{A54902B2-0D21-49D6-ABC9-2EC74564238F}" srcOrd="3" destOrd="0" presId="urn:microsoft.com/office/officeart/2016/7/layout/RepeatingBendingProcessNew"/>
    <dgm:cxn modelId="{D3C467B8-55D7-4C22-8C7E-0C439695A480}" type="presParOf" srcId="{A54902B2-0D21-49D6-ABC9-2EC74564238F}" destId="{9B1C32C8-39BA-4321-BF71-05E413D40216}" srcOrd="0" destOrd="0" presId="urn:microsoft.com/office/officeart/2016/7/layout/RepeatingBendingProcessNew"/>
    <dgm:cxn modelId="{911434A7-317E-4CD0-86C2-C47F65ABE2C9}" type="presParOf" srcId="{87D2F518-F8E8-4A93-BDEE-E32EF1360874}" destId="{C1A7BFA7-9AE3-4B22-A032-4A804B256427}" srcOrd="4" destOrd="0" presId="urn:microsoft.com/office/officeart/2016/7/layout/RepeatingBendingProcessNew"/>
    <dgm:cxn modelId="{65F1DDCF-C906-4D24-B73A-27814B9F703D}" type="presParOf" srcId="{87D2F518-F8E8-4A93-BDEE-E32EF1360874}" destId="{3CF960B8-6A23-475C-ABAF-59C237AB7CEF}" srcOrd="5" destOrd="0" presId="urn:microsoft.com/office/officeart/2016/7/layout/RepeatingBendingProcessNew"/>
    <dgm:cxn modelId="{0B54E83E-DE47-40EF-82BA-CDEB136578A7}" type="presParOf" srcId="{3CF960B8-6A23-475C-ABAF-59C237AB7CEF}" destId="{6CF123B7-294C-45C8-9430-BD1F3714B735}" srcOrd="0" destOrd="0" presId="urn:microsoft.com/office/officeart/2016/7/layout/RepeatingBendingProcessNew"/>
    <dgm:cxn modelId="{F64FBEE4-76A0-4E82-BB1F-AB2C73B6952D}" type="presParOf" srcId="{87D2F518-F8E8-4A93-BDEE-E32EF1360874}" destId="{B3AB62F7-2B1B-4583-B3B0-4BD903335CD3}" srcOrd="6" destOrd="0" presId="urn:microsoft.com/office/officeart/2016/7/layout/RepeatingBendingProcessNew"/>
    <dgm:cxn modelId="{EE3F3F62-82A3-470D-814C-23184263C481}" type="presParOf" srcId="{87D2F518-F8E8-4A93-BDEE-E32EF1360874}" destId="{42B606A0-63E0-45D7-A816-1BD3B7DC481D}" srcOrd="7" destOrd="0" presId="urn:microsoft.com/office/officeart/2016/7/layout/RepeatingBendingProcessNew"/>
    <dgm:cxn modelId="{FD9557C4-467E-49FF-96E7-CBA7D56EF8A9}" type="presParOf" srcId="{42B606A0-63E0-45D7-A816-1BD3B7DC481D}" destId="{AE073534-F061-4E41-9028-D9B91A399D58}" srcOrd="0" destOrd="0" presId="urn:microsoft.com/office/officeart/2016/7/layout/RepeatingBendingProcessNew"/>
    <dgm:cxn modelId="{7BDCF491-4DC5-4FE1-9125-CC2D35654A4D}" type="presParOf" srcId="{87D2F518-F8E8-4A93-BDEE-E32EF1360874}" destId="{BD039AE7-D189-4B89-AD50-49EECCE1AB40}" srcOrd="8" destOrd="0" presId="urn:microsoft.com/office/officeart/2016/7/layout/RepeatingBendingProcessNew"/>
    <dgm:cxn modelId="{03D72042-095C-474C-BF88-C6B23C869FCE}" type="presParOf" srcId="{87D2F518-F8E8-4A93-BDEE-E32EF1360874}" destId="{010BD200-4986-42BA-841F-D4162EE04B63}" srcOrd="9" destOrd="0" presId="urn:microsoft.com/office/officeart/2016/7/layout/RepeatingBendingProcessNew"/>
    <dgm:cxn modelId="{D8DDD8B4-6948-4A6E-BCBA-B2F586AB8951}" type="presParOf" srcId="{010BD200-4986-42BA-841F-D4162EE04B63}" destId="{84AA3918-C73C-4C74-BAF4-F56E457229F2}" srcOrd="0" destOrd="0" presId="urn:microsoft.com/office/officeart/2016/7/layout/RepeatingBendingProcessNew"/>
    <dgm:cxn modelId="{E104C62F-4156-4E68-99D1-9AABEA52241A}" type="presParOf" srcId="{87D2F518-F8E8-4A93-BDEE-E32EF1360874}" destId="{B7E09389-CDD7-4981-BD77-F33D23B66F71}" srcOrd="10" destOrd="0" presId="urn:microsoft.com/office/officeart/2016/7/layout/RepeatingBendingProcessNew"/>
    <dgm:cxn modelId="{89E63B2E-22D4-4610-BAD3-9334AAE46229}" type="presParOf" srcId="{87D2F518-F8E8-4A93-BDEE-E32EF1360874}" destId="{26178F07-82C0-4AD1-8032-72A9B696C77B}" srcOrd="11" destOrd="0" presId="urn:microsoft.com/office/officeart/2016/7/layout/RepeatingBendingProcessNew"/>
    <dgm:cxn modelId="{59397B68-1417-4991-9E38-5C90495E9594}" type="presParOf" srcId="{26178F07-82C0-4AD1-8032-72A9B696C77B}" destId="{2284717A-4277-4C1C-A542-79C3792211EA}" srcOrd="0" destOrd="0" presId="urn:microsoft.com/office/officeart/2016/7/layout/RepeatingBendingProcessNew"/>
    <dgm:cxn modelId="{1B6899FC-539B-4883-A2EB-50D577C9A41D}" type="presParOf" srcId="{87D2F518-F8E8-4A93-BDEE-E32EF1360874}" destId="{5639A2E4-7181-46F6-AFC7-37B3A0ECEBBC}" srcOrd="12" destOrd="0" presId="urn:microsoft.com/office/officeart/2016/7/layout/RepeatingBendingProcessNew"/>
    <dgm:cxn modelId="{16CC366E-6B6E-49BF-A3FE-05F10EB4AE20}" type="presParOf" srcId="{87D2F518-F8E8-4A93-BDEE-E32EF1360874}" destId="{F2C52C87-074B-4253-8896-FE35B0AA58EE}" srcOrd="13" destOrd="0" presId="urn:microsoft.com/office/officeart/2016/7/layout/RepeatingBendingProcessNew"/>
    <dgm:cxn modelId="{090D0FBB-B7D6-4EE1-954F-BBEBA41740C4}" type="presParOf" srcId="{F2C52C87-074B-4253-8896-FE35B0AA58EE}" destId="{12824531-BB4D-4699-A4D2-BDCADB97CD68}" srcOrd="0" destOrd="0" presId="urn:microsoft.com/office/officeart/2016/7/layout/RepeatingBendingProcessNew"/>
    <dgm:cxn modelId="{6B46AC1C-0B4F-47DD-BFD6-01AFD4E101A7}" type="presParOf" srcId="{87D2F518-F8E8-4A93-BDEE-E32EF1360874}" destId="{61367AF5-A0AB-4A80-9329-876F5E186222}"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928EA0-C654-4CB4-9BD8-B278666A6283}"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707FFB74-96AE-4680-846E-7C918B149401}">
      <dgm:prSet/>
      <dgm:spPr/>
      <dgm:t>
        <a:bodyPr/>
        <a:lstStyle/>
        <a:p>
          <a:r>
            <a:rPr lang="en-US" dirty="0"/>
            <a:t>Data Splitting Strategy:</a:t>
          </a:r>
        </a:p>
        <a:p>
          <a:r>
            <a:rPr lang="en-US" dirty="0"/>
            <a:t>Training (60%) – Model</a:t>
          </a:r>
        </a:p>
        <a:p>
          <a:r>
            <a:rPr lang="en-US" dirty="0"/>
            <a:t>Training Validation (20%) – Model Tuning </a:t>
          </a:r>
        </a:p>
        <a:p>
          <a:r>
            <a:rPr lang="en-US" dirty="0"/>
            <a:t>Test (20%) – External Validation</a:t>
          </a:r>
        </a:p>
      </dgm:t>
    </dgm:pt>
    <dgm:pt modelId="{3A8EC4FA-508A-4880-BF35-4E5BD61DCA6C}" type="parTrans" cxnId="{532A8835-FF6C-403C-9BC6-66489481DEE1}">
      <dgm:prSet/>
      <dgm:spPr/>
      <dgm:t>
        <a:bodyPr/>
        <a:lstStyle/>
        <a:p>
          <a:endParaRPr lang="en-US"/>
        </a:p>
      </dgm:t>
    </dgm:pt>
    <dgm:pt modelId="{D1BB2ACD-ECCD-494F-9178-B82DD2497759}" type="sibTrans" cxnId="{532A8835-FF6C-403C-9BC6-66489481DEE1}">
      <dgm:prSet/>
      <dgm:spPr/>
      <dgm:t>
        <a:bodyPr/>
        <a:lstStyle/>
        <a:p>
          <a:endParaRPr lang="en-US"/>
        </a:p>
      </dgm:t>
    </dgm:pt>
    <dgm:pt modelId="{13CB142C-B068-4277-8E0F-7897297B959F}">
      <dgm:prSet/>
      <dgm:spPr/>
      <dgm:t>
        <a:bodyPr/>
        <a:lstStyle/>
        <a:p>
          <a:r>
            <a:rPr lang="en-US"/>
            <a:t>Key Performance Metrics:</a:t>
          </a:r>
        </a:p>
      </dgm:t>
    </dgm:pt>
    <dgm:pt modelId="{ED79CB50-02BA-40D4-A5E1-DD4CA8C97D87}" type="parTrans" cxnId="{BAFC5CCF-0852-455C-9946-3689B530284A}">
      <dgm:prSet/>
      <dgm:spPr/>
      <dgm:t>
        <a:bodyPr/>
        <a:lstStyle/>
        <a:p>
          <a:endParaRPr lang="en-US"/>
        </a:p>
      </dgm:t>
    </dgm:pt>
    <dgm:pt modelId="{C77977C4-F50D-4726-9A23-DEE7352417CE}" type="sibTrans" cxnId="{BAFC5CCF-0852-455C-9946-3689B530284A}">
      <dgm:prSet/>
      <dgm:spPr/>
      <dgm:t>
        <a:bodyPr/>
        <a:lstStyle/>
        <a:p>
          <a:endParaRPr lang="en-US"/>
        </a:p>
      </dgm:t>
    </dgm:pt>
    <dgm:pt modelId="{13B98B6A-3E7C-48B7-BFF7-C036010242C3}">
      <dgm:prSet/>
      <dgm:spPr/>
      <dgm:t>
        <a:bodyPr/>
        <a:lstStyle/>
        <a:p>
          <a:r>
            <a:rPr lang="en-US" dirty="0"/>
            <a:t>Training:</a:t>
          </a:r>
        </a:p>
        <a:p>
          <a:r>
            <a:rPr lang="en-US" dirty="0"/>
            <a:t>R² = 0.9539</a:t>
          </a:r>
        </a:p>
        <a:p>
          <a:r>
            <a:rPr lang="en-US" dirty="0"/>
            <a:t>MSE = 1.437</a:t>
          </a:r>
        </a:p>
      </dgm:t>
    </dgm:pt>
    <dgm:pt modelId="{3CF88661-5A23-4BF6-A94C-C832A2002379}" type="parTrans" cxnId="{C770FDE0-F30D-4B62-9814-D74368678392}">
      <dgm:prSet/>
      <dgm:spPr/>
      <dgm:t>
        <a:bodyPr/>
        <a:lstStyle/>
        <a:p>
          <a:endParaRPr lang="en-US"/>
        </a:p>
      </dgm:t>
    </dgm:pt>
    <dgm:pt modelId="{2BD8F97D-B064-41E8-A080-A52475C46B39}" type="sibTrans" cxnId="{C770FDE0-F30D-4B62-9814-D74368678392}">
      <dgm:prSet/>
      <dgm:spPr/>
      <dgm:t>
        <a:bodyPr/>
        <a:lstStyle/>
        <a:p>
          <a:endParaRPr lang="en-US"/>
        </a:p>
      </dgm:t>
    </dgm:pt>
    <dgm:pt modelId="{D32E1CD8-3EA8-4C34-81B3-18820A81BC42}">
      <dgm:prSet/>
      <dgm:spPr/>
      <dgm:t>
        <a:bodyPr/>
        <a:lstStyle/>
        <a:p>
          <a:r>
            <a:rPr lang="en-US" dirty="0"/>
            <a:t>Validation:</a:t>
          </a:r>
        </a:p>
        <a:p>
          <a:r>
            <a:rPr lang="en-US" dirty="0"/>
            <a:t>R² = 0.9556</a:t>
          </a:r>
        </a:p>
        <a:p>
          <a:r>
            <a:rPr lang="en-US" dirty="0"/>
            <a:t>MSE = 2.02</a:t>
          </a:r>
        </a:p>
        <a:p>
          <a:endParaRPr lang="en-US" dirty="0"/>
        </a:p>
      </dgm:t>
    </dgm:pt>
    <dgm:pt modelId="{086C5076-A96A-4A87-8AD8-DE6D3852BD0E}" type="parTrans" cxnId="{DAAA4B60-CF52-4ECD-B602-0C66CCE0C2BC}">
      <dgm:prSet/>
      <dgm:spPr/>
      <dgm:t>
        <a:bodyPr/>
        <a:lstStyle/>
        <a:p>
          <a:endParaRPr lang="en-US"/>
        </a:p>
      </dgm:t>
    </dgm:pt>
    <dgm:pt modelId="{456783EB-B038-4E20-A07F-380071F54A7E}" type="sibTrans" cxnId="{DAAA4B60-CF52-4ECD-B602-0C66CCE0C2BC}">
      <dgm:prSet/>
      <dgm:spPr/>
      <dgm:t>
        <a:bodyPr/>
        <a:lstStyle/>
        <a:p>
          <a:endParaRPr lang="en-US"/>
        </a:p>
      </dgm:t>
    </dgm:pt>
    <dgm:pt modelId="{C0EBF3E4-9CCE-4562-AB86-32395BBD710D}">
      <dgm:prSet/>
      <dgm:spPr/>
      <dgm:t>
        <a:bodyPr/>
        <a:lstStyle/>
        <a:p>
          <a:r>
            <a:rPr lang="en-US" dirty="0"/>
            <a:t>Test:</a:t>
          </a:r>
        </a:p>
        <a:p>
          <a:r>
            <a:rPr lang="en-US" dirty="0"/>
            <a:t>R² = 0.9529</a:t>
          </a:r>
        </a:p>
        <a:p>
          <a:r>
            <a:rPr lang="en-US" dirty="0"/>
            <a:t>MSE = 2.15</a:t>
          </a:r>
        </a:p>
      </dgm:t>
    </dgm:pt>
    <dgm:pt modelId="{6F813A80-B9FB-455D-87CD-C7CA25B5D3B7}" type="parTrans" cxnId="{F311205E-9424-48DB-BA08-71D923B3B6E5}">
      <dgm:prSet/>
      <dgm:spPr/>
      <dgm:t>
        <a:bodyPr/>
        <a:lstStyle/>
        <a:p>
          <a:endParaRPr lang="en-US"/>
        </a:p>
      </dgm:t>
    </dgm:pt>
    <dgm:pt modelId="{5E8326B7-12CF-4DBE-ABBA-9794322FF7DB}" type="sibTrans" cxnId="{F311205E-9424-48DB-BA08-71D923B3B6E5}">
      <dgm:prSet/>
      <dgm:spPr/>
      <dgm:t>
        <a:bodyPr/>
        <a:lstStyle/>
        <a:p>
          <a:endParaRPr lang="en-US"/>
        </a:p>
      </dgm:t>
    </dgm:pt>
    <dgm:pt modelId="{978289C4-0728-42D4-A385-24B24AE27CF6}">
      <dgm:prSet/>
      <dgm:spPr/>
      <dgm:t>
        <a:bodyPr/>
        <a:lstStyle/>
        <a:p>
          <a:r>
            <a:rPr lang="en-US"/>
            <a:t>Conclusion:</a:t>
          </a:r>
        </a:p>
      </dgm:t>
    </dgm:pt>
    <dgm:pt modelId="{AF1C5270-7B78-47F6-BDF4-317DF9C84301}" type="parTrans" cxnId="{2D98DAF3-725B-4775-BAC4-21E7727AF5A5}">
      <dgm:prSet/>
      <dgm:spPr/>
      <dgm:t>
        <a:bodyPr/>
        <a:lstStyle/>
        <a:p>
          <a:endParaRPr lang="en-US"/>
        </a:p>
      </dgm:t>
    </dgm:pt>
    <dgm:pt modelId="{20EE93EC-F07D-45A6-8D59-215EC4DBA3CE}" type="sibTrans" cxnId="{2D98DAF3-725B-4775-BAC4-21E7727AF5A5}">
      <dgm:prSet/>
      <dgm:spPr/>
      <dgm:t>
        <a:bodyPr/>
        <a:lstStyle/>
        <a:p>
          <a:endParaRPr lang="en-US"/>
        </a:p>
      </dgm:t>
    </dgm:pt>
    <dgm:pt modelId="{7154198D-3A3B-4963-ADBF-4D7441B50111}">
      <dgm:prSet/>
      <dgm:spPr/>
      <dgm:t>
        <a:bodyPr/>
        <a:lstStyle/>
        <a:p>
          <a:r>
            <a:rPr lang="en-US" dirty="0"/>
            <a:t>High R² and low MSE across all sets demonstrate strong predictive accuracy and generalizability of the polynomial regression model, indicating effective capture of non-linear relationships in player ratings.</a:t>
          </a:r>
        </a:p>
      </dgm:t>
    </dgm:pt>
    <dgm:pt modelId="{E98DD9B1-5BCB-4CBA-9824-40AF0AFCC0BC}" type="parTrans" cxnId="{9333D881-F83F-4D7F-9696-1D2FAD47E4F9}">
      <dgm:prSet/>
      <dgm:spPr/>
      <dgm:t>
        <a:bodyPr/>
        <a:lstStyle/>
        <a:p>
          <a:endParaRPr lang="en-US"/>
        </a:p>
      </dgm:t>
    </dgm:pt>
    <dgm:pt modelId="{BBA1A8FA-151C-420A-BF77-241EE5001AA6}" type="sibTrans" cxnId="{9333D881-F83F-4D7F-9696-1D2FAD47E4F9}">
      <dgm:prSet/>
      <dgm:spPr/>
      <dgm:t>
        <a:bodyPr/>
        <a:lstStyle/>
        <a:p>
          <a:endParaRPr lang="en-US"/>
        </a:p>
      </dgm:t>
    </dgm:pt>
    <dgm:pt modelId="{11194364-261A-4F09-9D65-3946BA9AC742}" type="pres">
      <dgm:prSet presAssocID="{ED928EA0-C654-4CB4-9BD8-B278666A6283}" presName="diagram" presStyleCnt="0">
        <dgm:presLayoutVars>
          <dgm:dir/>
          <dgm:resizeHandles val="exact"/>
        </dgm:presLayoutVars>
      </dgm:prSet>
      <dgm:spPr/>
    </dgm:pt>
    <dgm:pt modelId="{BEE542C7-7FE1-4D72-A8AD-044F090C29C9}" type="pres">
      <dgm:prSet presAssocID="{707FFB74-96AE-4680-846E-7C918B149401}" presName="node" presStyleLbl="node1" presStyleIdx="0" presStyleCnt="7">
        <dgm:presLayoutVars>
          <dgm:bulletEnabled val="1"/>
        </dgm:presLayoutVars>
      </dgm:prSet>
      <dgm:spPr/>
    </dgm:pt>
    <dgm:pt modelId="{93FC7321-C57F-4404-882A-823F7BB94073}" type="pres">
      <dgm:prSet presAssocID="{D1BB2ACD-ECCD-494F-9178-B82DD2497759}" presName="sibTrans" presStyleCnt="0"/>
      <dgm:spPr/>
    </dgm:pt>
    <dgm:pt modelId="{AB3F9512-2B0D-4255-864C-C14925325BDB}" type="pres">
      <dgm:prSet presAssocID="{13CB142C-B068-4277-8E0F-7897297B959F}" presName="node" presStyleLbl="node1" presStyleIdx="1" presStyleCnt="7">
        <dgm:presLayoutVars>
          <dgm:bulletEnabled val="1"/>
        </dgm:presLayoutVars>
      </dgm:prSet>
      <dgm:spPr/>
    </dgm:pt>
    <dgm:pt modelId="{43F331C6-4C75-4FB0-974E-E2ED24033B6F}" type="pres">
      <dgm:prSet presAssocID="{C77977C4-F50D-4726-9A23-DEE7352417CE}" presName="sibTrans" presStyleCnt="0"/>
      <dgm:spPr/>
    </dgm:pt>
    <dgm:pt modelId="{DBBC867D-2225-4CC7-94D1-62AE2D6BA311}" type="pres">
      <dgm:prSet presAssocID="{13B98B6A-3E7C-48B7-BFF7-C036010242C3}" presName="node" presStyleLbl="node1" presStyleIdx="2" presStyleCnt="7">
        <dgm:presLayoutVars>
          <dgm:bulletEnabled val="1"/>
        </dgm:presLayoutVars>
      </dgm:prSet>
      <dgm:spPr/>
    </dgm:pt>
    <dgm:pt modelId="{A0F08698-AC62-4095-A949-2391EAA16F61}" type="pres">
      <dgm:prSet presAssocID="{2BD8F97D-B064-41E8-A080-A52475C46B39}" presName="sibTrans" presStyleCnt="0"/>
      <dgm:spPr/>
    </dgm:pt>
    <dgm:pt modelId="{1CBD1D5E-D229-4E88-8234-32FEE16B7586}" type="pres">
      <dgm:prSet presAssocID="{D32E1CD8-3EA8-4C34-81B3-18820A81BC42}" presName="node" presStyleLbl="node1" presStyleIdx="3" presStyleCnt="7">
        <dgm:presLayoutVars>
          <dgm:bulletEnabled val="1"/>
        </dgm:presLayoutVars>
      </dgm:prSet>
      <dgm:spPr/>
    </dgm:pt>
    <dgm:pt modelId="{B9BE0FC2-3037-4BBA-A043-D2B7883154FD}" type="pres">
      <dgm:prSet presAssocID="{456783EB-B038-4E20-A07F-380071F54A7E}" presName="sibTrans" presStyleCnt="0"/>
      <dgm:spPr/>
    </dgm:pt>
    <dgm:pt modelId="{ABA3F04D-AFCB-40DB-83E8-6A27EDA7F7F1}" type="pres">
      <dgm:prSet presAssocID="{C0EBF3E4-9CCE-4562-AB86-32395BBD710D}" presName="node" presStyleLbl="node1" presStyleIdx="4" presStyleCnt="7">
        <dgm:presLayoutVars>
          <dgm:bulletEnabled val="1"/>
        </dgm:presLayoutVars>
      </dgm:prSet>
      <dgm:spPr/>
    </dgm:pt>
    <dgm:pt modelId="{76F526E9-D54F-4D7F-B87F-2DA811CE9C76}" type="pres">
      <dgm:prSet presAssocID="{5E8326B7-12CF-4DBE-ABBA-9794322FF7DB}" presName="sibTrans" presStyleCnt="0"/>
      <dgm:spPr/>
    </dgm:pt>
    <dgm:pt modelId="{AC684FF2-B515-435E-9782-E795886D67DB}" type="pres">
      <dgm:prSet presAssocID="{978289C4-0728-42D4-A385-24B24AE27CF6}" presName="node" presStyleLbl="node1" presStyleIdx="5" presStyleCnt="7">
        <dgm:presLayoutVars>
          <dgm:bulletEnabled val="1"/>
        </dgm:presLayoutVars>
      </dgm:prSet>
      <dgm:spPr/>
    </dgm:pt>
    <dgm:pt modelId="{12B74256-7498-4FBE-8557-F595E34A774B}" type="pres">
      <dgm:prSet presAssocID="{20EE93EC-F07D-45A6-8D59-215EC4DBA3CE}" presName="sibTrans" presStyleCnt="0"/>
      <dgm:spPr/>
    </dgm:pt>
    <dgm:pt modelId="{252828A4-A8B2-4D54-99A5-99B4C9A142FD}" type="pres">
      <dgm:prSet presAssocID="{7154198D-3A3B-4963-ADBF-4D7441B50111}" presName="node" presStyleLbl="node1" presStyleIdx="6" presStyleCnt="7">
        <dgm:presLayoutVars>
          <dgm:bulletEnabled val="1"/>
        </dgm:presLayoutVars>
      </dgm:prSet>
      <dgm:spPr/>
    </dgm:pt>
  </dgm:ptLst>
  <dgm:cxnLst>
    <dgm:cxn modelId="{0C8A3308-6696-4593-AA33-77AB9EC75196}" type="presOf" srcId="{ED928EA0-C654-4CB4-9BD8-B278666A6283}" destId="{11194364-261A-4F09-9D65-3946BA9AC742}" srcOrd="0" destOrd="0" presId="urn:microsoft.com/office/officeart/2005/8/layout/default"/>
    <dgm:cxn modelId="{532A8835-FF6C-403C-9BC6-66489481DEE1}" srcId="{ED928EA0-C654-4CB4-9BD8-B278666A6283}" destId="{707FFB74-96AE-4680-846E-7C918B149401}" srcOrd="0" destOrd="0" parTransId="{3A8EC4FA-508A-4880-BF35-4E5BD61DCA6C}" sibTransId="{D1BB2ACD-ECCD-494F-9178-B82DD2497759}"/>
    <dgm:cxn modelId="{1B4A3B3B-7F48-41AA-925E-D043CFA103A7}" type="presOf" srcId="{C0EBF3E4-9CCE-4562-AB86-32395BBD710D}" destId="{ABA3F04D-AFCB-40DB-83E8-6A27EDA7F7F1}" srcOrd="0" destOrd="0" presId="urn:microsoft.com/office/officeart/2005/8/layout/default"/>
    <dgm:cxn modelId="{F311205E-9424-48DB-BA08-71D923B3B6E5}" srcId="{ED928EA0-C654-4CB4-9BD8-B278666A6283}" destId="{C0EBF3E4-9CCE-4562-AB86-32395BBD710D}" srcOrd="4" destOrd="0" parTransId="{6F813A80-B9FB-455D-87CD-C7CA25B5D3B7}" sibTransId="{5E8326B7-12CF-4DBE-ABBA-9794322FF7DB}"/>
    <dgm:cxn modelId="{DAAA4B60-CF52-4ECD-B602-0C66CCE0C2BC}" srcId="{ED928EA0-C654-4CB4-9BD8-B278666A6283}" destId="{D32E1CD8-3EA8-4C34-81B3-18820A81BC42}" srcOrd="3" destOrd="0" parTransId="{086C5076-A96A-4A87-8AD8-DE6D3852BD0E}" sibTransId="{456783EB-B038-4E20-A07F-380071F54A7E}"/>
    <dgm:cxn modelId="{2B016041-FAA6-43F9-924F-1F00FE0B3AA8}" type="presOf" srcId="{707FFB74-96AE-4680-846E-7C918B149401}" destId="{BEE542C7-7FE1-4D72-A8AD-044F090C29C9}" srcOrd="0" destOrd="0" presId="urn:microsoft.com/office/officeart/2005/8/layout/default"/>
    <dgm:cxn modelId="{659D6E4B-3031-400A-AB9D-99881F6D139A}" type="presOf" srcId="{978289C4-0728-42D4-A385-24B24AE27CF6}" destId="{AC684FF2-B515-435E-9782-E795886D67DB}" srcOrd="0" destOrd="0" presId="urn:microsoft.com/office/officeart/2005/8/layout/default"/>
    <dgm:cxn modelId="{9333D881-F83F-4D7F-9696-1D2FAD47E4F9}" srcId="{ED928EA0-C654-4CB4-9BD8-B278666A6283}" destId="{7154198D-3A3B-4963-ADBF-4D7441B50111}" srcOrd="6" destOrd="0" parTransId="{E98DD9B1-5BCB-4CBA-9824-40AF0AFCC0BC}" sibTransId="{BBA1A8FA-151C-420A-BF77-241EE5001AA6}"/>
    <dgm:cxn modelId="{6670978B-6955-43BB-9B3C-D95276028D3B}" type="presOf" srcId="{7154198D-3A3B-4963-ADBF-4D7441B50111}" destId="{252828A4-A8B2-4D54-99A5-99B4C9A142FD}" srcOrd="0" destOrd="0" presId="urn:microsoft.com/office/officeart/2005/8/layout/default"/>
    <dgm:cxn modelId="{AD4CE599-6CFC-4741-9F14-FBF5E20F4533}" type="presOf" srcId="{13CB142C-B068-4277-8E0F-7897297B959F}" destId="{AB3F9512-2B0D-4255-864C-C14925325BDB}" srcOrd="0" destOrd="0" presId="urn:microsoft.com/office/officeart/2005/8/layout/default"/>
    <dgm:cxn modelId="{F6AF44CC-9A47-4221-89F0-D4E42E2F1BFF}" type="presOf" srcId="{13B98B6A-3E7C-48B7-BFF7-C036010242C3}" destId="{DBBC867D-2225-4CC7-94D1-62AE2D6BA311}" srcOrd="0" destOrd="0" presId="urn:microsoft.com/office/officeart/2005/8/layout/default"/>
    <dgm:cxn modelId="{BAFC5CCF-0852-455C-9946-3689B530284A}" srcId="{ED928EA0-C654-4CB4-9BD8-B278666A6283}" destId="{13CB142C-B068-4277-8E0F-7897297B959F}" srcOrd="1" destOrd="0" parTransId="{ED79CB50-02BA-40D4-A5E1-DD4CA8C97D87}" sibTransId="{C77977C4-F50D-4726-9A23-DEE7352417CE}"/>
    <dgm:cxn modelId="{C770FDE0-F30D-4B62-9814-D74368678392}" srcId="{ED928EA0-C654-4CB4-9BD8-B278666A6283}" destId="{13B98B6A-3E7C-48B7-BFF7-C036010242C3}" srcOrd="2" destOrd="0" parTransId="{3CF88661-5A23-4BF6-A94C-C832A2002379}" sibTransId="{2BD8F97D-B064-41E8-A080-A52475C46B39}"/>
    <dgm:cxn modelId="{2E3530EC-29FE-4454-810A-6469AC61D757}" type="presOf" srcId="{D32E1CD8-3EA8-4C34-81B3-18820A81BC42}" destId="{1CBD1D5E-D229-4E88-8234-32FEE16B7586}" srcOrd="0" destOrd="0" presId="urn:microsoft.com/office/officeart/2005/8/layout/default"/>
    <dgm:cxn modelId="{2D98DAF3-725B-4775-BAC4-21E7727AF5A5}" srcId="{ED928EA0-C654-4CB4-9BD8-B278666A6283}" destId="{978289C4-0728-42D4-A385-24B24AE27CF6}" srcOrd="5" destOrd="0" parTransId="{AF1C5270-7B78-47F6-BDF4-317DF9C84301}" sibTransId="{20EE93EC-F07D-45A6-8D59-215EC4DBA3CE}"/>
    <dgm:cxn modelId="{4E6C0761-4FEE-49BE-80A0-96611FA90390}" type="presParOf" srcId="{11194364-261A-4F09-9D65-3946BA9AC742}" destId="{BEE542C7-7FE1-4D72-A8AD-044F090C29C9}" srcOrd="0" destOrd="0" presId="urn:microsoft.com/office/officeart/2005/8/layout/default"/>
    <dgm:cxn modelId="{39DCCD48-80C8-417A-BAC3-D2D4DB676C59}" type="presParOf" srcId="{11194364-261A-4F09-9D65-3946BA9AC742}" destId="{93FC7321-C57F-4404-882A-823F7BB94073}" srcOrd="1" destOrd="0" presId="urn:microsoft.com/office/officeart/2005/8/layout/default"/>
    <dgm:cxn modelId="{ED457033-CA46-4DDF-A8BD-2442FE9AA126}" type="presParOf" srcId="{11194364-261A-4F09-9D65-3946BA9AC742}" destId="{AB3F9512-2B0D-4255-864C-C14925325BDB}" srcOrd="2" destOrd="0" presId="urn:microsoft.com/office/officeart/2005/8/layout/default"/>
    <dgm:cxn modelId="{55C5EA4E-2E88-4DF7-983D-582BAD0DB79D}" type="presParOf" srcId="{11194364-261A-4F09-9D65-3946BA9AC742}" destId="{43F331C6-4C75-4FB0-974E-E2ED24033B6F}" srcOrd="3" destOrd="0" presId="urn:microsoft.com/office/officeart/2005/8/layout/default"/>
    <dgm:cxn modelId="{D16DEEA3-9F4F-483B-B502-55BC2AAC5587}" type="presParOf" srcId="{11194364-261A-4F09-9D65-3946BA9AC742}" destId="{DBBC867D-2225-4CC7-94D1-62AE2D6BA311}" srcOrd="4" destOrd="0" presId="urn:microsoft.com/office/officeart/2005/8/layout/default"/>
    <dgm:cxn modelId="{E706D87B-DF05-4702-9731-0FAC1228AB58}" type="presParOf" srcId="{11194364-261A-4F09-9D65-3946BA9AC742}" destId="{A0F08698-AC62-4095-A949-2391EAA16F61}" srcOrd="5" destOrd="0" presId="urn:microsoft.com/office/officeart/2005/8/layout/default"/>
    <dgm:cxn modelId="{85906F0E-0DBF-4701-A775-7A7C4F9CA4D2}" type="presParOf" srcId="{11194364-261A-4F09-9D65-3946BA9AC742}" destId="{1CBD1D5E-D229-4E88-8234-32FEE16B7586}" srcOrd="6" destOrd="0" presId="urn:microsoft.com/office/officeart/2005/8/layout/default"/>
    <dgm:cxn modelId="{FFD6ACD9-59BC-4C36-BF6D-07DCFF05C338}" type="presParOf" srcId="{11194364-261A-4F09-9D65-3946BA9AC742}" destId="{B9BE0FC2-3037-4BBA-A043-D2B7883154FD}" srcOrd="7" destOrd="0" presId="urn:microsoft.com/office/officeart/2005/8/layout/default"/>
    <dgm:cxn modelId="{0B3D67B9-FA6B-4EE8-88DF-49CF82CA3929}" type="presParOf" srcId="{11194364-261A-4F09-9D65-3946BA9AC742}" destId="{ABA3F04D-AFCB-40DB-83E8-6A27EDA7F7F1}" srcOrd="8" destOrd="0" presId="urn:microsoft.com/office/officeart/2005/8/layout/default"/>
    <dgm:cxn modelId="{362E6592-3B39-4853-8113-D2BE1FC7247F}" type="presParOf" srcId="{11194364-261A-4F09-9D65-3946BA9AC742}" destId="{76F526E9-D54F-4D7F-B87F-2DA811CE9C76}" srcOrd="9" destOrd="0" presId="urn:microsoft.com/office/officeart/2005/8/layout/default"/>
    <dgm:cxn modelId="{2FDACDEC-87E2-4AFC-BE4C-A31431B727EC}" type="presParOf" srcId="{11194364-261A-4F09-9D65-3946BA9AC742}" destId="{AC684FF2-B515-435E-9782-E795886D67DB}" srcOrd="10" destOrd="0" presId="urn:microsoft.com/office/officeart/2005/8/layout/default"/>
    <dgm:cxn modelId="{0F898060-DFC6-415F-BBB2-FE4C2691EB40}" type="presParOf" srcId="{11194364-261A-4F09-9D65-3946BA9AC742}" destId="{12B74256-7498-4FBE-8557-F595E34A774B}" srcOrd="11" destOrd="0" presId="urn:microsoft.com/office/officeart/2005/8/layout/default"/>
    <dgm:cxn modelId="{9CC6B307-374C-4A1B-AF4C-D7F712491D74}" type="presParOf" srcId="{11194364-261A-4F09-9D65-3946BA9AC742}" destId="{252828A4-A8B2-4D54-99A5-99B4C9A142FD}"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F38EDF-A7C6-4678-A8CC-EDBC0B7713FC}"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2B710EFD-3CE1-462B-B9B3-F7F9F869139C}">
      <dgm:prSet/>
      <dgm:spPr/>
      <dgm:t>
        <a:bodyPr/>
        <a:lstStyle/>
        <a:p>
          <a:r>
            <a:rPr lang="en-US" dirty="0"/>
            <a:t>QQ Plots</a:t>
          </a:r>
        </a:p>
        <a:p>
          <a:r>
            <a:rPr lang="en-US" dirty="0"/>
            <a:t>Objective: Assess normality of residuals.</a:t>
          </a:r>
        </a:p>
        <a:p>
          <a:r>
            <a:rPr lang="en-US" dirty="0"/>
            <a:t>Insights: Residuals closely follow the normal line across training, validation, and test sets, with minor deviations in the tails, indicating approximate normality.</a:t>
          </a:r>
        </a:p>
      </dgm:t>
    </dgm:pt>
    <dgm:pt modelId="{B03A728F-D742-4A2A-9A34-B760B9BEFF73}" type="parTrans" cxnId="{FFAAC9A9-E4B1-4AC9-9801-FA59B1F890D8}">
      <dgm:prSet/>
      <dgm:spPr/>
      <dgm:t>
        <a:bodyPr/>
        <a:lstStyle/>
        <a:p>
          <a:endParaRPr lang="en-US"/>
        </a:p>
      </dgm:t>
    </dgm:pt>
    <dgm:pt modelId="{E2F318C7-4A7B-4AC3-B4A7-4B8046235B87}" type="sibTrans" cxnId="{FFAAC9A9-E4B1-4AC9-9801-FA59B1F890D8}">
      <dgm:prSet/>
      <dgm:spPr/>
      <dgm:t>
        <a:bodyPr/>
        <a:lstStyle/>
        <a:p>
          <a:endParaRPr lang="en-US"/>
        </a:p>
      </dgm:t>
    </dgm:pt>
    <dgm:pt modelId="{E437A960-A226-4B3A-AD99-C01BB900BFE8}">
      <dgm:prSet/>
      <dgm:spPr/>
      <dgm:t>
        <a:bodyPr/>
        <a:lstStyle/>
        <a:p>
          <a:r>
            <a:rPr lang="en-US" dirty="0"/>
            <a:t>Histograms of Residuals</a:t>
          </a:r>
        </a:p>
        <a:p>
          <a:r>
            <a:rPr lang="en-US" dirty="0"/>
            <a:t>Objective: Visualize residual distribution.</a:t>
          </a:r>
        </a:p>
        <a:p>
          <a:r>
            <a:rPr lang="en-US" dirty="0"/>
            <a:t>Insights: Residuals show a bell-shaped curve around zero, suggesting a normal distribution across all datasets.</a:t>
          </a:r>
        </a:p>
      </dgm:t>
    </dgm:pt>
    <dgm:pt modelId="{A977E467-5A2A-466A-BC2A-C879CBA5C263}" type="parTrans" cxnId="{41E6D058-9431-4284-8A50-9D309CD423FC}">
      <dgm:prSet/>
      <dgm:spPr/>
      <dgm:t>
        <a:bodyPr/>
        <a:lstStyle/>
        <a:p>
          <a:endParaRPr lang="en-US"/>
        </a:p>
      </dgm:t>
    </dgm:pt>
    <dgm:pt modelId="{6A0DA492-C362-4A38-8FB4-5E64FD106C7D}" type="sibTrans" cxnId="{41E6D058-9431-4284-8A50-9D309CD423FC}">
      <dgm:prSet/>
      <dgm:spPr/>
      <dgm:t>
        <a:bodyPr/>
        <a:lstStyle/>
        <a:p>
          <a:endParaRPr lang="en-US"/>
        </a:p>
      </dgm:t>
    </dgm:pt>
    <dgm:pt modelId="{3C6EE46A-32FA-4D26-AC4C-0F9A4AC13106}">
      <dgm:prSet/>
      <dgm:spPr/>
      <dgm:t>
        <a:bodyPr/>
        <a:lstStyle/>
        <a:p>
          <a:r>
            <a:rPr lang="en-US" dirty="0"/>
            <a:t>Residuals vs. Fitted Values</a:t>
          </a:r>
        </a:p>
        <a:p>
          <a:r>
            <a:rPr lang="en-US" dirty="0"/>
            <a:t>Objective: Check for constant variance (homoscedasticity).</a:t>
          </a:r>
        </a:p>
        <a:p>
          <a:r>
            <a:rPr lang="en-US" dirty="0"/>
            <a:t>Insights: Residuals scatter evenly around zero without clear patterns, indicating homoscedasticity, supporting model assumptions.</a:t>
          </a:r>
        </a:p>
      </dgm:t>
    </dgm:pt>
    <dgm:pt modelId="{01A79141-1AF5-4489-8317-00323C743C9A}" type="parTrans" cxnId="{FC6F3239-B80B-4D6D-8456-C0941E05BEFF}">
      <dgm:prSet/>
      <dgm:spPr/>
      <dgm:t>
        <a:bodyPr/>
        <a:lstStyle/>
        <a:p>
          <a:endParaRPr lang="en-US"/>
        </a:p>
      </dgm:t>
    </dgm:pt>
    <dgm:pt modelId="{6F2A09C2-F32A-48CE-822A-25B39D1BA222}" type="sibTrans" cxnId="{FC6F3239-B80B-4D6D-8456-C0941E05BEFF}">
      <dgm:prSet/>
      <dgm:spPr/>
      <dgm:t>
        <a:bodyPr/>
        <a:lstStyle/>
        <a:p>
          <a:endParaRPr lang="en-US"/>
        </a:p>
      </dgm:t>
    </dgm:pt>
    <dgm:pt modelId="{1D74E812-9DA5-4218-98ED-EF7E74676BE7}">
      <dgm:prSet/>
      <dgm:spPr/>
      <dgm:t>
        <a:bodyPr/>
        <a:lstStyle/>
        <a:p>
          <a:r>
            <a:rPr lang="en-US" dirty="0"/>
            <a:t>Conclusion: </a:t>
          </a:r>
        </a:p>
        <a:p>
          <a:r>
            <a:rPr lang="en-US" dirty="0"/>
            <a:t>The residual analysis supports that the polynomial regression model captures data patterns well, with approximately normal and homoscedastic residuals across training, validation, and test datasets, affirming model reliability.</a:t>
          </a:r>
        </a:p>
      </dgm:t>
    </dgm:pt>
    <dgm:pt modelId="{5C015F24-E17A-4E35-AEE5-68366EB7A8FE}" type="parTrans" cxnId="{8702D663-9898-45D3-A21D-97F9BA5415BF}">
      <dgm:prSet/>
      <dgm:spPr/>
      <dgm:t>
        <a:bodyPr/>
        <a:lstStyle/>
        <a:p>
          <a:endParaRPr lang="en-US"/>
        </a:p>
      </dgm:t>
    </dgm:pt>
    <dgm:pt modelId="{AD60C222-45D0-4752-8CCB-C86143DEC928}" type="sibTrans" cxnId="{8702D663-9898-45D3-A21D-97F9BA5415BF}">
      <dgm:prSet/>
      <dgm:spPr/>
      <dgm:t>
        <a:bodyPr/>
        <a:lstStyle/>
        <a:p>
          <a:endParaRPr lang="en-US"/>
        </a:p>
      </dgm:t>
    </dgm:pt>
    <dgm:pt modelId="{483B72D0-6277-4100-B630-DF0E8AF1D360}" type="pres">
      <dgm:prSet presAssocID="{5AF38EDF-A7C6-4678-A8CC-EDBC0B7713FC}" presName="vert0" presStyleCnt="0">
        <dgm:presLayoutVars>
          <dgm:dir/>
          <dgm:animOne val="branch"/>
          <dgm:animLvl val="lvl"/>
        </dgm:presLayoutVars>
      </dgm:prSet>
      <dgm:spPr/>
    </dgm:pt>
    <dgm:pt modelId="{5519C05B-ECB2-46C8-9880-437EA1ACA9E4}" type="pres">
      <dgm:prSet presAssocID="{2B710EFD-3CE1-462B-B9B3-F7F9F869139C}" presName="thickLine" presStyleLbl="alignNode1" presStyleIdx="0" presStyleCnt="4"/>
      <dgm:spPr/>
    </dgm:pt>
    <dgm:pt modelId="{422F67A9-62F6-4A0C-97BB-D95B477EA618}" type="pres">
      <dgm:prSet presAssocID="{2B710EFD-3CE1-462B-B9B3-F7F9F869139C}" presName="horz1" presStyleCnt="0"/>
      <dgm:spPr/>
    </dgm:pt>
    <dgm:pt modelId="{92F7DFD8-8769-49D6-B20E-A9906AFD3CCB}" type="pres">
      <dgm:prSet presAssocID="{2B710EFD-3CE1-462B-B9B3-F7F9F869139C}" presName="tx1" presStyleLbl="revTx" presStyleIdx="0" presStyleCnt="4"/>
      <dgm:spPr/>
    </dgm:pt>
    <dgm:pt modelId="{3AE540DF-3465-4EA5-863C-5BC9C12A4A3C}" type="pres">
      <dgm:prSet presAssocID="{2B710EFD-3CE1-462B-B9B3-F7F9F869139C}" presName="vert1" presStyleCnt="0"/>
      <dgm:spPr/>
    </dgm:pt>
    <dgm:pt modelId="{35FE44D1-2EC5-4673-B979-D3D31A788BEE}" type="pres">
      <dgm:prSet presAssocID="{E437A960-A226-4B3A-AD99-C01BB900BFE8}" presName="thickLine" presStyleLbl="alignNode1" presStyleIdx="1" presStyleCnt="4"/>
      <dgm:spPr/>
    </dgm:pt>
    <dgm:pt modelId="{ECFB935C-05BF-4D73-BACE-889A7F9F60CD}" type="pres">
      <dgm:prSet presAssocID="{E437A960-A226-4B3A-AD99-C01BB900BFE8}" presName="horz1" presStyleCnt="0"/>
      <dgm:spPr/>
    </dgm:pt>
    <dgm:pt modelId="{ECAA8BBF-AC16-47F0-9B38-01A309D78E5C}" type="pres">
      <dgm:prSet presAssocID="{E437A960-A226-4B3A-AD99-C01BB900BFE8}" presName="tx1" presStyleLbl="revTx" presStyleIdx="1" presStyleCnt="4"/>
      <dgm:spPr/>
    </dgm:pt>
    <dgm:pt modelId="{62C72048-FF39-4FD9-BEAD-14CBAAE2D1FA}" type="pres">
      <dgm:prSet presAssocID="{E437A960-A226-4B3A-AD99-C01BB900BFE8}" presName="vert1" presStyleCnt="0"/>
      <dgm:spPr/>
    </dgm:pt>
    <dgm:pt modelId="{AC3D692B-1A68-4EC1-87B4-9934EF23F57A}" type="pres">
      <dgm:prSet presAssocID="{3C6EE46A-32FA-4D26-AC4C-0F9A4AC13106}" presName="thickLine" presStyleLbl="alignNode1" presStyleIdx="2" presStyleCnt="4"/>
      <dgm:spPr/>
    </dgm:pt>
    <dgm:pt modelId="{5FCC6027-4A07-413F-97ED-67A115CDA4EF}" type="pres">
      <dgm:prSet presAssocID="{3C6EE46A-32FA-4D26-AC4C-0F9A4AC13106}" presName="horz1" presStyleCnt="0"/>
      <dgm:spPr/>
    </dgm:pt>
    <dgm:pt modelId="{2F7E3298-2C75-4492-B1B9-FE099C961F64}" type="pres">
      <dgm:prSet presAssocID="{3C6EE46A-32FA-4D26-AC4C-0F9A4AC13106}" presName="tx1" presStyleLbl="revTx" presStyleIdx="2" presStyleCnt="4"/>
      <dgm:spPr/>
    </dgm:pt>
    <dgm:pt modelId="{0A2C73B8-30C8-44CF-8F3A-4714A52108C7}" type="pres">
      <dgm:prSet presAssocID="{3C6EE46A-32FA-4D26-AC4C-0F9A4AC13106}" presName="vert1" presStyleCnt="0"/>
      <dgm:spPr/>
    </dgm:pt>
    <dgm:pt modelId="{2C7F84F6-5D6A-4777-9568-779F330BB3CC}" type="pres">
      <dgm:prSet presAssocID="{1D74E812-9DA5-4218-98ED-EF7E74676BE7}" presName="thickLine" presStyleLbl="alignNode1" presStyleIdx="3" presStyleCnt="4"/>
      <dgm:spPr/>
    </dgm:pt>
    <dgm:pt modelId="{DE38CE15-F346-4119-90E5-F0453FFB9B4E}" type="pres">
      <dgm:prSet presAssocID="{1D74E812-9DA5-4218-98ED-EF7E74676BE7}" presName="horz1" presStyleCnt="0"/>
      <dgm:spPr/>
    </dgm:pt>
    <dgm:pt modelId="{85A15748-99A7-43B7-91D1-0916D20A43BF}" type="pres">
      <dgm:prSet presAssocID="{1D74E812-9DA5-4218-98ED-EF7E74676BE7}" presName="tx1" presStyleLbl="revTx" presStyleIdx="3" presStyleCnt="4"/>
      <dgm:spPr/>
    </dgm:pt>
    <dgm:pt modelId="{0C471582-C2A5-4E80-B91C-AC713DDC48C1}" type="pres">
      <dgm:prSet presAssocID="{1D74E812-9DA5-4218-98ED-EF7E74676BE7}" presName="vert1" presStyleCnt="0"/>
      <dgm:spPr/>
    </dgm:pt>
  </dgm:ptLst>
  <dgm:cxnLst>
    <dgm:cxn modelId="{9135F809-2F37-4330-8E67-7159D5EE4CF5}" type="presOf" srcId="{1D74E812-9DA5-4218-98ED-EF7E74676BE7}" destId="{85A15748-99A7-43B7-91D1-0916D20A43BF}" srcOrd="0" destOrd="0" presId="urn:microsoft.com/office/officeart/2008/layout/LinedList"/>
    <dgm:cxn modelId="{FD85A40D-8CEE-4B62-B5FF-27A6E814C39B}" type="presOf" srcId="{E437A960-A226-4B3A-AD99-C01BB900BFE8}" destId="{ECAA8BBF-AC16-47F0-9B38-01A309D78E5C}" srcOrd="0" destOrd="0" presId="urn:microsoft.com/office/officeart/2008/layout/LinedList"/>
    <dgm:cxn modelId="{42B5A115-CE32-4C58-B205-B4A09C54E51C}" type="presOf" srcId="{3C6EE46A-32FA-4D26-AC4C-0F9A4AC13106}" destId="{2F7E3298-2C75-4492-B1B9-FE099C961F64}" srcOrd="0" destOrd="0" presId="urn:microsoft.com/office/officeart/2008/layout/LinedList"/>
    <dgm:cxn modelId="{DE7E432F-F534-41E8-8FA1-9438672BDF4A}" type="presOf" srcId="{2B710EFD-3CE1-462B-B9B3-F7F9F869139C}" destId="{92F7DFD8-8769-49D6-B20E-A9906AFD3CCB}" srcOrd="0" destOrd="0" presId="urn:microsoft.com/office/officeart/2008/layout/LinedList"/>
    <dgm:cxn modelId="{FC6F3239-B80B-4D6D-8456-C0941E05BEFF}" srcId="{5AF38EDF-A7C6-4678-A8CC-EDBC0B7713FC}" destId="{3C6EE46A-32FA-4D26-AC4C-0F9A4AC13106}" srcOrd="2" destOrd="0" parTransId="{01A79141-1AF5-4489-8317-00323C743C9A}" sibTransId="{6F2A09C2-F32A-48CE-822A-25B39D1BA222}"/>
    <dgm:cxn modelId="{8702D663-9898-45D3-A21D-97F9BA5415BF}" srcId="{5AF38EDF-A7C6-4678-A8CC-EDBC0B7713FC}" destId="{1D74E812-9DA5-4218-98ED-EF7E74676BE7}" srcOrd="3" destOrd="0" parTransId="{5C015F24-E17A-4E35-AEE5-68366EB7A8FE}" sibTransId="{AD60C222-45D0-4752-8CCB-C86143DEC928}"/>
    <dgm:cxn modelId="{41E6D058-9431-4284-8A50-9D309CD423FC}" srcId="{5AF38EDF-A7C6-4678-A8CC-EDBC0B7713FC}" destId="{E437A960-A226-4B3A-AD99-C01BB900BFE8}" srcOrd="1" destOrd="0" parTransId="{A977E467-5A2A-466A-BC2A-C879CBA5C263}" sibTransId="{6A0DA492-C362-4A38-8FB4-5E64FD106C7D}"/>
    <dgm:cxn modelId="{FFAAC9A9-E4B1-4AC9-9801-FA59B1F890D8}" srcId="{5AF38EDF-A7C6-4678-A8CC-EDBC0B7713FC}" destId="{2B710EFD-3CE1-462B-B9B3-F7F9F869139C}" srcOrd="0" destOrd="0" parTransId="{B03A728F-D742-4A2A-9A34-B760B9BEFF73}" sibTransId="{E2F318C7-4A7B-4AC3-B4A7-4B8046235B87}"/>
    <dgm:cxn modelId="{CE66EBCA-4474-4395-97B0-FCE55C81E35B}" type="presOf" srcId="{5AF38EDF-A7C6-4678-A8CC-EDBC0B7713FC}" destId="{483B72D0-6277-4100-B630-DF0E8AF1D360}" srcOrd="0" destOrd="0" presId="urn:microsoft.com/office/officeart/2008/layout/LinedList"/>
    <dgm:cxn modelId="{F738990D-09C2-40C0-9C5F-38524AA8535A}" type="presParOf" srcId="{483B72D0-6277-4100-B630-DF0E8AF1D360}" destId="{5519C05B-ECB2-46C8-9880-437EA1ACA9E4}" srcOrd="0" destOrd="0" presId="urn:microsoft.com/office/officeart/2008/layout/LinedList"/>
    <dgm:cxn modelId="{8D6B2313-59A2-4112-B0BE-FD3251AA1074}" type="presParOf" srcId="{483B72D0-6277-4100-B630-DF0E8AF1D360}" destId="{422F67A9-62F6-4A0C-97BB-D95B477EA618}" srcOrd="1" destOrd="0" presId="urn:microsoft.com/office/officeart/2008/layout/LinedList"/>
    <dgm:cxn modelId="{0B22DD08-1824-4A25-9D0C-08472517B56B}" type="presParOf" srcId="{422F67A9-62F6-4A0C-97BB-D95B477EA618}" destId="{92F7DFD8-8769-49D6-B20E-A9906AFD3CCB}" srcOrd="0" destOrd="0" presId="urn:microsoft.com/office/officeart/2008/layout/LinedList"/>
    <dgm:cxn modelId="{93BE1904-7B87-48A4-8D8A-F2636982C3DD}" type="presParOf" srcId="{422F67A9-62F6-4A0C-97BB-D95B477EA618}" destId="{3AE540DF-3465-4EA5-863C-5BC9C12A4A3C}" srcOrd="1" destOrd="0" presId="urn:microsoft.com/office/officeart/2008/layout/LinedList"/>
    <dgm:cxn modelId="{58120044-2B5F-434B-9B22-55302F313903}" type="presParOf" srcId="{483B72D0-6277-4100-B630-DF0E8AF1D360}" destId="{35FE44D1-2EC5-4673-B979-D3D31A788BEE}" srcOrd="2" destOrd="0" presId="urn:microsoft.com/office/officeart/2008/layout/LinedList"/>
    <dgm:cxn modelId="{464CD402-3837-4635-9B3A-018D02C89E40}" type="presParOf" srcId="{483B72D0-6277-4100-B630-DF0E8AF1D360}" destId="{ECFB935C-05BF-4D73-BACE-889A7F9F60CD}" srcOrd="3" destOrd="0" presId="urn:microsoft.com/office/officeart/2008/layout/LinedList"/>
    <dgm:cxn modelId="{30ABC056-1DE3-458B-A320-005C8F9582C6}" type="presParOf" srcId="{ECFB935C-05BF-4D73-BACE-889A7F9F60CD}" destId="{ECAA8BBF-AC16-47F0-9B38-01A309D78E5C}" srcOrd="0" destOrd="0" presId="urn:microsoft.com/office/officeart/2008/layout/LinedList"/>
    <dgm:cxn modelId="{A01D0ED3-B0D8-4A96-A86F-9340E4EEC4A0}" type="presParOf" srcId="{ECFB935C-05BF-4D73-BACE-889A7F9F60CD}" destId="{62C72048-FF39-4FD9-BEAD-14CBAAE2D1FA}" srcOrd="1" destOrd="0" presId="urn:microsoft.com/office/officeart/2008/layout/LinedList"/>
    <dgm:cxn modelId="{DFD908B2-399D-450C-B346-A31EB23A8F1C}" type="presParOf" srcId="{483B72D0-6277-4100-B630-DF0E8AF1D360}" destId="{AC3D692B-1A68-4EC1-87B4-9934EF23F57A}" srcOrd="4" destOrd="0" presId="urn:microsoft.com/office/officeart/2008/layout/LinedList"/>
    <dgm:cxn modelId="{5A093F36-E6F5-475F-BF76-3A23DC9A9A44}" type="presParOf" srcId="{483B72D0-6277-4100-B630-DF0E8AF1D360}" destId="{5FCC6027-4A07-413F-97ED-67A115CDA4EF}" srcOrd="5" destOrd="0" presId="urn:microsoft.com/office/officeart/2008/layout/LinedList"/>
    <dgm:cxn modelId="{14FF82C0-F21F-4677-A1D4-C444E5EB4431}" type="presParOf" srcId="{5FCC6027-4A07-413F-97ED-67A115CDA4EF}" destId="{2F7E3298-2C75-4492-B1B9-FE099C961F64}" srcOrd="0" destOrd="0" presId="urn:microsoft.com/office/officeart/2008/layout/LinedList"/>
    <dgm:cxn modelId="{904EE9A5-FB00-41D0-9BD4-0708A7603608}" type="presParOf" srcId="{5FCC6027-4A07-413F-97ED-67A115CDA4EF}" destId="{0A2C73B8-30C8-44CF-8F3A-4714A52108C7}" srcOrd="1" destOrd="0" presId="urn:microsoft.com/office/officeart/2008/layout/LinedList"/>
    <dgm:cxn modelId="{69463519-AA73-496C-94D8-C2A0A82940B6}" type="presParOf" srcId="{483B72D0-6277-4100-B630-DF0E8AF1D360}" destId="{2C7F84F6-5D6A-4777-9568-779F330BB3CC}" srcOrd="6" destOrd="0" presId="urn:microsoft.com/office/officeart/2008/layout/LinedList"/>
    <dgm:cxn modelId="{387D58CF-DA73-4D0E-8180-944632255D0A}" type="presParOf" srcId="{483B72D0-6277-4100-B630-DF0E8AF1D360}" destId="{DE38CE15-F346-4119-90E5-F0453FFB9B4E}" srcOrd="7" destOrd="0" presId="urn:microsoft.com/office/officeart/2008/layout/LinedList"/>
    <dgm:cxn modelId="{626BD4CD-DF36-48DD-8A20-7A24894A5FD8}" type="presParOf" srcId="{DE38CE15-F346-4119-90E5-F0453FFB9B4E}" destId="{85A15748-99A7-43B7-91D1-0916D20A43BF}" srcOrd="0" destOrd="0" presId="urn:microsoft.com/office/officeart/2008/layout/LinedList"/>
    <dgm:cxn modelId="{5EE6CAB0-8B9F-45CE-9AA8-134DC0F7D76A}" type="presParOf" srcId="{DE38CE15-F346-4119-90E5-F0453FFB9B4E}" destId="{0C471582-C2A5-4E80-B91C-AC713DDC48C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6D654D-C76F-43FB-8F77-C3BF9162A190}">
      <dsp:nvSpPr>
        <dsp:cNvPr id="0" name=""/>
        <dsp:cNvSpPr/>
      </dsp:nvSpPr>
      <dsp:spPr>
        <a:xfrm>
          <a:off x="0" y="2260"/>
          <a:ext cx="5924550" cy="0"/>
        </a:xfrm>
        <a:prstGeom prst="line">
          <a:avLst/>
        </a:prstGeom>
        <a:gradFill rotWithShape="0">
          <a:gsLst>
            <a:gs pos="0">
              <a:schemeClr val="accent5">
                <a:hueOff val="0"/>
                <a:satOff val="0"/>
                <a:lumOff val="0"/>
                <a:alphaOff val="0"/>
                <a:tint val="94000"/>
                <a:satMod val="100000"/>
                <a:lumMod val="104000"/>
              </a:schemeClr>
            </a:gs>
            <a:gs pos="69000">
              <a:schemeClr val="accent5">
                <a:hueOff val="0"/>
                <a:satOff val="0"/>
                <a:lumOff val="0"/>
                <a:alphaOff val="0"/>
                <a:shade val="86000"/>
                <a:satMod val="130000"/>
                <a:lumMod val="102000"/>
              </a:schemeClr>
            </a:gs>
            <a:gs pos="100000">
              <a:schemeClr val="accent5">
                <a:hueOff val="0"/>
                <a:satOff val="0"/>
                <a:lumOff val="0"/>
                <a:alphaOff val="0"/>
                <a:shade val="72000"/>
                <a:satMod val="130000"/>
                <a:lumMod val="100000"/>
              </a:schemeClr>
            </a:gs>
          </a:gsLst>
          <a:lin ang="5400000" scaled="0"/>
        </a:gradFill>
        <a:ln w="12700" cap="flat" cmpd="sng" algn="ctr">
          <a:solidFill>
            <a:schemeClr val="accent5">
              <a:hueOff val="0"/>
              <a:satOff val="0"/>
              <a:lumOff val="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CB7239CE-20E5-4DE6-92F9-468EB8820D41}">
      <dsp:nvSpPr>
        <dsp:cNvPr id="0" name=""/>
        <dsp:cNvSpPr/>
      </dsp:nvSpPr>
      <dsp:spPr>
        <a:xfrm>
          <a:off x="0" y="2260"/>
          <a:ext cx="5924550" cy="154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How do key performance metrics (e.g., pace, shooting, passing) influence a player's overall rating in professional sports, and which attributes have the most significant impact?</a:t>
          </a:r>
        </a:p>
      </dsp:txBody>
      <dsp:txXfrm>
        <a:off x="0" y="2260"/>
        <a:ext cx="5924550" cy="1541543"/>
      </dsp:txXfrm>
    </dsp:sp>
    <dsp:sp modelId="{1F920873-52D1-454D-837A-CB32200AA860}">
      <dsp:nvSpPr>
        <dsp:cNvPr id="0" name=""/>
        <dsp:cNvSpPr/>
      </dsp:nvSpPr>
      <dsp:spPr>
        <a:xfrm>
          <a:off x="0" y="1543803"/>
          <a:ext cx="5924550" cy="0"/>
        </a:xfrm>
        <a:prstGeom prst="line">
          <a:avLst/>
        </a:prstGeom>
        <a:gradFill rotWithShape="0">
          <a:gsLst>
            <a:gs pos="0">
              <a:schemeClr val="accent5">
                <a:hueOff val="-9214729"/>
                <a:satOff val="10313"/>
                <a:lumOff val="589"/>
                <a:alphaOff val="0"/>
                <a:tint val="94000"/>
                <a:satMod val="100000"/>
                <a:lumMod val="104000"/>
              </a:schemeClr>
            </a:gs>
            <a:gs pos="69000">
              <a:schemeClr val="accent5">
                <a:hueOff val="-9214729"/>
                <a:satOff val="10313"/>
                <a:lumOff val="589"/>
                <a:alphaOff val="0"/>
                <a:shade val="86000"/>
                <a:satMod val="130000"/>
                <a:lumMod val="102000"/>
              </a:schemeClr>
            </a:gs>
            <a:gs pos="100000">
              <a:schemeClr val="accent5">
                <a:hueOff val="-9214729"/>
                <a:satOff val="10313"/>
                <a:lumOff val="589"/>
                <a:alphaOff val="0"/>
                <a:shade val="72000"/>
                <a:satMod val="130000"/>
                <a:lumMod val="100000"/>
              </a:schemeClr>
            </a:gs>
          </a:gsLst>
          <a:lin ang="5400000" scaled="0"/>
        </a:gradFill>
        <a:ln w="12700" cap="flat" cmpd="sng" algn="ctr">
          <a:solidFill>
            <a:schemeClr val="accent5">
              <a:hueOff val="-9214729"/>
              <a:satOff val="10313"/>
              <a:lumOff val="589"/>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8C281DD1-DE47-4642-9D75-CB3ECADDCCCA}">
      <dsp:nvSpPr>
        <dsp:cNvPr id="0" name=""/>
        <dsp:cNvSpPr/>
      </dsp:nvSpPr>
      <dsp:spPr>
        <a:xfrm>
          <a:off x="0" y="1543803"/>
          <a:ext cx="5924550" cy="154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How does the performance of polynomial regression compare to multiple linear regression in terms of predictive accuracy for player ratings, and does the inclusion of non-linear terms lead to significant improvements?</a:t>
          </a:r>
        </a:p>
      </dsp:txBody>
      <dsp:txXfrm>
        <a:off x="0" y="1543803"/>
        <a:ext cx="5924550" cy="1541543"/>
      </dsp:txXfrm>
    </dsp:sp>
    <dsp:sp modelId="{46BD89AE-5719-4662-B812-91D128092DFD}">
      <dsp:nvSpPr>
        <dsp:cNvPr id="0" name=""/>
        <dsp:cNvSpPr/>
      </dsp:nvSpPr>
      <dsp:spPr>
        <a:xfrm>
          <a:off x="0" y="3085346"/>
          <a:ext cx="5924550" cy="0"/>
        </a:xfrm>
        <a:prstGeom prst="line">
          <a:avLst/>
        </a:prstGeom>
        <a:gradFill rotWithShape="0">
          <a:gsLst>
            <a:gs pos="0">
              <a:schemeClr val="accent5">
                <a:hueOff val="-18429457"/>
                <a:satOff val="20625"/>
                <a:lumOff val="1177"/>
                <a:alphaOff val="0"/>
                <a:tint val="94000"/>
                <a:satMod val="100000"/>
                <a:lumMod val="104000"/>
              </a:schemeClr>
            </a:gs>
            <a:gs pos="69000">
              <a:schemeClr val="accent5">
                <a:hueOff val="-18429457"/>
                <a:satOff val="20625"/>
                <a:lumOff val="1177"/>
                <a:alphaOff val="0"/>
                <a:shade val="86000"/>
                <a:satMod val="130000"/>
                <a:lumMod val="102000"/>
              </a:schemeClr>
            </a:gs>
            <a:gs pos="100000">
              <a:schemeClr val="accent5">
                <a:hueOff val="-18429457"/>
                <a:satOff val="20625"/>
                <a:lumOff val="1177"/>
                <a:alphaOff val="0"/>
                <a:shade val="72000"/>
                <a:satMod val="130000"/>
                <a:lumMod val="100000"/>
              </a:schemeClr>
            </a:gs>
          </a:gsLst>
          <a:lin ang="5400000" scaled="0"/>
        </a:gradFill>
        <a:ln w="12700" cap="flat" cmpd="sng" algn="ctr">
          <a:solidFill>
            <a:schemeClr val="accent5">
              <a:hueOff val="-18429457"/>
              <a:satOff val="20625"/>
              <a:lumOff val="1177"/>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443306B6-9A0C-4153-B9A7-60FE89047FC2}">
      <dsp:nvSpPr>
        <dsp:cNvPr id="0" name=""/>
        <dsp:cNvSpPr/>
      </dsp:nvSpPr>
      <dsp:spPr>
        <a:xfrm>
          <a:off x="0" y="3085346"/>
          <a:ext cx="5924550" cy="1541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How effective are cross-validation and external validation methods in evaluating the stability of regression models for predicting player ratings?</a:t>
          </a:r>
        </a:p>
      </dsp:txBody>
      <dsp:txXfrm>
        <a:off x="0" y="3085346"/>
        <a:ext cx="5924550" cy="15415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78D5A-7365-4203-BD8E-F8FBDB28D656}">
      <dsp:nvSpPr>
        <dsp:cNvPr id="0" name=""/>
        <dsp:cNvSpPr/>
      </dsp:nvSpPr>
      <dsp:spPr>
        <a:xfrm>
          <a:off x="0" y="0"/>
          <a:ext cx="1035367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2286FF-3C9D-49F4-AAA2-294C7505FF43}">
      <dsp:nvSpPr>
        <dsp:cNvPr id="0" name=""/>
        <dsp:cNvSpPr/>
      </dsp:nvSpPr>
      <dsp:spPr>
        <a:xfrm>
          <a:off x="0" y="0"/>
          <a:ext cx="10353675" cy="1652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n-US" sz="6300" kern="1200"/>
            <a:t>Multiple Linear Regression</a:t>
          </a:r>
        </a:p>
      </dsp:txBody>
      <dsp:txXfrm>
        <a:off x="0" y="0"/>
        <a:ext cx="10353675" cy="1652909"/>
      </dsp:txXfrm>
    </dsp:sp>
    <dsp:sp modelId="{2CF0F8A6-611E-42DA-B04E-F4C234927197}">
      <dsp:nvSpPr>
        <dsp:cNvPr id="0" name=""/>
        <dsp:cNvSpPr/>
      </dsp:nvSpPr>
      <dsp:spPr>
        <a:xfrm>
          <a:off x="0" y="1652909"/>
          <a:ext cx="10353675" cy="0"/>
        </a:xfrm>
        <a:prstGeom prst="line">
          <a:avLst/>
        </a:prstGeom>
        <a:solidFill>
          <a:schemeClr val="accent2">
            <a:hueOff val="2212920"/>
            <a:satOff val="10201"/>
            <a:lumOff val="1569"/>
            <a:alphaOff val="0"/>
          </a:schemeClr>
        </a:solidFill>
        <a:ln w="19050" cap="flat" cmpd="sng" algn="ctr">
          <a:solidFill>
            <a:schemeClr val="accent2">
              <a:hueOff val="2212920"/>
              <a:satOff val="10201"/>
              <a:lumOff val="156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E0531C-8D60-434E-9A62-D8AC7606C49A}">
      <dsp:nvSpPr>
        <dsp:cNvPr id="0" name=""/>
        <dsp:cNvSpPr/>
      </dsp:nvSpPr>
      <dsp:spPr>
        <a:xfrm>
          <a:off x="0" y="1652909"/>
          <a:ext cx="10353675" cy="1652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n-US" sz="6300" kern="1200"/>
            <a:t>Polynomial Regression</a:t>
          </a:r>
        </a:p>
      </dsp:txBody>
      <dsp:txXfrm>
        <a:off x="0" y="1652909"/>
        <a:ext cx="10353675" cy="1652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016800-7BC1-42AC-8293-5C5AE64E7E73}">
      <dsp:nvSpPr>
        <dsp:cNvPr id="0" name=""/>
        <dsp:cNvSpPr/>
      </dsp:nvSpPr>
      <dsp:spPr>
        <a:xfrm>
          <a:off x="3490117" y="649324"/>
          <a:ext cx="500265" cy="91440"/>
        </a:xfrm>
        <a:custGeom>
          <a:avLst/>
          <a:gdLst/>
          <a:ahLst/>
          <a:cxnLst/>
          <a:rect l="0" t="0" r="0" b="0"/>
          <a:pathLst>
            <a:path>
              <a:moveTo>
                <a:pt x="0" y="45720"/>
              </a:moveTo>
              <a:lnTo>
                <a:pt x="500265" y="45720"/>
              </a:lnTo>
            </a:path>
          </a:pathLst>
        </a:custGeom>
        <a:noFill/>
        <a:ln w="127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26978" y="692387"/>
        <a:ext cx="26543" cy="5313"/>
      </dsp:txXfrm>
    </dsp:sp>
    <dsp:sp modelId="{3AE9BB6D-0A7B-4795-9878-D6E5702590CA}">
      <dsp:nvSpPr>
        <dsp:cNvPr id="0" name=""/>
        <dsp:cNvSpPr/>
      </dsp:nvSpPr>
      <dsp:spPr>
        <a:xfrm>
          <a:off x="1183807" y="2611"/>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Predicting Player Ratings with Multiple Linear Regression</a:t>
          </a:r>
        </a:p>
      </dsp:txBody>
      <dsp:txXfrm>
        <a:off x="1183807" y="2611"/>
        <a:ext cx="2308109" cy="1384865"/>
      </dsp:txXfrm>
    </dsp:sp>
    <dsp:sp modelId="{8504F2ED-17B0-4EEA-B36C-B4963351190B}">
      <dsp:nvSpPr>
        <dsp:cNvPr id="0" name=""/>
        <dsp:cNvSpPr/>
      </dsp:nvSpPr>
      <dsp:spPr>
        <a:xfrm>
          <a:off x="6329092" y="649324"/>
          <a:ext cx="500265" cy="91440"/>
        </a:xfrm>
        <a:custGeom>
          <a:avLst/>
          <a:gdLst/>
          <a:ahLst/>
          <a:cxnLst/>
          <a:rect l="0" t="0" r="0" b="0"/>
          <a:pathLst>
            <a:path>
              <a:moveTo>
                <a:pt x="0" y="45720"/>
              </a:moveTo>
              <a:lnTo>
                <a:pt x="500265" y="45720"/>
              </a:lnTo>
            </a:path>
          </a:pathLst>
        </a:custGeom>
        <a:noFill/>
        <a:ln w="127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65953" y="692387"/>
        <a:ext cx="26543" cy="5313"/>
      </dsp:txXfrm>
    </dsp:sp>
    <dsp:sp modelId="{19EFA5B3-C9DE-4DE2-83A5-B4DEB26BDBE7}">
      <dsp:nvSpPr>
        <dsp:cNvPr id="0" name=""/>
        <dsp:cNvSpPr/>
      </dsp:nvSpPr>
      <dsp:spPr>
        <a:xfrm>
          <a:off x="4022782" y="2611"/>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Objective: Predict overall player rating using key attributes, including financial (wage_eur) and skill metrics (dribbling, physic, etc.).</a:t>
          </a:r>
        </a:p>
      </dsp:txBody>
      <dsp:txXfrm>
        <a:off x="4022782" y="2611"/>
        <a:ext cx="2308109" cy="1384865"/>
      </dsp:txXfrm>
    </dsp:sp>
    <dsp:sp modelId="{9C051098-3439-42B1-BA57-11290FE40171}">
      <dsp:nvSpPr>
        <dsp:cNvPr id="0" name=""/>
        <dsp:cNvSpPr/>
      </dsp:nvSpPr>
      <dsp:spPr>
        <a:xfrm>
          <a:off x="2337862" y="1385677"/>
          <a:ext cx="5677949" cy="500265"/>
        </a:xfrm>
        <a:custGeom>
          <a:avLst/>
          <a:gdLst/>
          <a:ahLst/>
          <a:cxnLst/>
          <a:rect l="0" t="0" r="0" b="0"/>
          <a:pathLst>
            <a:path>
              <a:moveTo>
                <a:pt x="5677949" y="0"/>
              </a:moveTo>
              <a:lnTo>
                <a:pt x="5677949" y="267232"/>
              </a:lnTo>
              <a:lnTo>
                <a:pt x="0" y="267232"/>
              </a:lnTo>
              <a:lnTo>
                <a:pt x="0" y="500265"/>
              </a:lnTo>
            </a:path>
          </a:pathLst>
        </a:custGeom>
        <a:noFill/>
        <a:ln w="127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4269" y="1633153"/>
        <a:ext cx="285135" cy="5313"/>
      </dsp:txXfrm>
    </dsp:sp>
    <dsp:sp modelId="{63942BB7-2187-4D77-9356-FFEC2A46C667}">
      <dsp:nvSpPr>
        <dsp:cNvPr id="0" name=""/>
        <dsp:cNvSpPr/>
      </dsp:nvSpPr>
      <dsp:spPr>
        <a:xfrm>
          <a:off x="6861757" y="2611"/>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Model Performance:</a:t>
          </a:r>
        </a:p>
      </dsp:txBody>
      <dsp:txXfrm>
        <a:off x="6861757" y="2611"/>
        <a:ext cx="2308109" cy="1384865"/>
      </dsp:txXfrm>
    </dsp:sp>
    <dsp:sp modelId="{951645B8-3CD5-47EF-BFC0-109CFDD4AA97}">
      <dsp:nvSpPr>
        <dsp:cNvPr id="0" name=""/>
        <dsp:cNvSpPr/>
      </dsp:nvSpPr>
      <dsp:spPr>
        <a:xfrm>
          <a:off x="3490117" y="2565055"/>
          <a:ext cx="500265" cy="91440"/>
        </a:xfrm>
        <a:custGeom>
          <a:avLst/>
          <a:gdLst/>
          <a:ahLst/>
          <a:cxnLst/>
          <a:rect l="0" t="0" r="0" b="0"/>
          <a:pathLst>
            <a:path>
              <a:moveTo>
                <a:pt x="0" y="45720"/>
              </a:moveTo>
              <a:lnTo>
                <a:pt x="500265" y="45720"/>
              </a:lnTo>
            </a:path>
          </a:pathLst>
        </a:custGeom>
        <a:noFill/>
        <a:ln w="127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26978" y="2608118"/>
        <a:ext cx="26543" cy="5313"/>
      </dsp:txXfrm>
    </dsp:sp>
    <dsp:sp modelId="{FBA04F67-2D60-4C39-B17F-AF30A12DC8A2}">
      <dsp:nvSpPr>
        <dsp:cNvPr id="0" name=""/>
        <dsp:cNvSpPr/>
      </dsp:nvSpPr>
      <dsp:spPr>
        <a:xfrm>
          <a:off x="1183807" y="1918342"/>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R-squared: 0.8018 (80% variance explained)MSE: 8.92 (indicating good predictive accuracy)</a:t>
          </a:r>
        </a:p>
      </dsp:txBody>
      <dsp:txXfrm>
        <a:off x="1183807" y="1918342"/>
        <a:ext cx="2308109" cy="1384865"/>
      </dsp:txXfrm>
    </dsp:sp>
    <dsp:sp modelId="{B7BDAE22-A4E7-4C91-906E-AB423FA1FD5C}">
      <dsp:nvSpPr>
        <dsp:cNvPr id="0" name=""/>
        <dsp:cNvSpPr/>
      </dsp:nvSpPr>
      <dsp:spPr>
        <a:xfrm>
          <a:off x="6329092" y="2565055"/>
          <a:ext cx="500265" cy="91440"/>
        </a:xfrm>
        <a:custGeom>
          <a:avLst/>
          <a:gdLst/>
          <a:ahLst/>
          <a:cxnLst/>
          <a:rect l="0" t="0" r="0" b="0"/>
          <a:pathLst>
            <a:path>
              <a:moveTo>
                <a:pt x="0" y="45720"/>
              </a:moveTo>
              <a:lnTo>
                <a:pt x="500265" y="45720"/>
              </a:lnTo>
            </a:path>
          </a:pathLst>
        </a:custGeom>
        <a:noFill/>
        <a:ln w="12700" cap="flat" cmpd="sng" algn="ctr">
          <a:solidFill>
            <a:schemeClr val="dk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65953" y="2608118"/>
        <a:ext cx="26543" cy="5313"/>
      </dsp:txXfrm>
    </dsp:sp>
    <dsp:sp modelId="{4E790400-D28D-4654-A230-89FD26C17316}">
      <dsp:nvSpPr>
        <dsp:cNvPr id="0" name=""/>
        <dsp:cNvSpPr/>
      </dsp:nvSpPr>
      <dsp:spPr>
        <a:xfrm>
          <a:off x="4022782" y="1918342"/>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Key Insights:</a:t>
          </a:r>
        </a:p>
      </dsp:txBody>
      <dsp:txXfrm>
        <a:off x="4022782" y="1918342"/>
        <a:ext cx="2308109" cy="1384865"/>
      </dsp:txXfrm>
    </dsp:sp>
    <dsp:sp modelId="{586E5A18-C687-4DE5-963A-D2B7323AE05F}">
      <dsp:nvSpPr>
        <dsp:cNvPr id="0" name=""/>
        <dsp:cNvSpPr/>
      </dsp:nvSpPr>
      <dsp:spPr>
        <a:xfrm>
          <a:off x="6861757" y="1918342"/>
          <a:ext cx="2308109" cy="138486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099" tIns="118718" rIns="113099" bIns="118718" numCol="1" spcCol="1270" anchor="ctr" anchorCtr="0">
          <a:noAutofit/>
        </a:bodyPr>
        <a:lstStyle/>
        <a:p>
          <a:pPr marL="0" lvl="0" indent="0" algn="ctr" defTabSz="533400">
            <a:lnSpc>
              <a:spcPct val="90000"/>
            </a:lnSpc>
            <a:spcBef>
              <a:spcPct val="0"/>
            </a:spcBef>
            <a:spcAft>
              <a:spcPct val="35000"/>
            </a:spcAft>
            <a:buNone/>
          </a:pPr>
          <a:r>
            <a:rPr lang="en-US" sz="1200" kern="1200"/>
            <a:t>Significant Predictors: dribbling, physic, and wage_eur contribute strongly to overall rating.Impact: Highlights the importance of both technical skills and financial investment in player valuation.</a:t>
          </a:r>
        </a:p>
      </dsp:txBody>
      <dsp:txXfrm>
        <a:off x="6861757" y="1918342"/>
        <a:ext cx="2308109" cy="13848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DC2D0-824A-4B09-9632-6D3B10DEA569}">
      <dsp:nvSpPr>
        <dsp:cNvPr id="0" name=""/>
        <dsp:cNvSpPr/>
      </dsp:nvSpPr>
      <dsp:spPr>
        <a:xfrm>
          <a:off x="2209886" y="692292"/>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436" y="735474"/>
        <a:ext cx="25352" cy="5075"/>
      </dsp:txXfrm>
    </dsp:sp>
    <dsp:sp modelId="{2EB23101-E8D9-43DF-B918-1C87601AA63A}">
      <dsp:nvSpPr>
        <dsp:cNvPr id="0" name=""/>
        <dsp:cNvSpPr/>
      </dsp:nvSpPr>
      <dsp:spPr>
        <a:xfrm>
          <a:off x="7113" y="76640"/>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Polynomial Regression (Degree 2) with Linear Terms</a:t>
          </a:r>
        </a:p>
      </dsp:txBody>
      <dsp:txXfrm>
        <a:off x="7113" y="76640"/>
        <a:ext cx="2204573" cy="1322743"/>
      </dsp:txXfrm>
    </dsp:sp>
    <dsp:sp modelId="{A54902B2-0D21-49D6-ABC9-2EC74564238F}">
      <dsp:nvSpPr>
        <dsp:cNvPr id="0" name=""/>
        <dsp:cNvSpPr/>
      </dsp:nvSpPr>
      <dsp:spPr>
        <a:xfrm>
          <a:off x="4921511" y="692292"/>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47061" y="735474"/>
        <a:ext cx="25352" cy="5075"/>
      </dsp:txXfrm>
    </dsp:sp>
    <dsp:sp modelId="{60CDF381-CA2B-46FB-9AC7-6BAEDF9CF943}">
      <dsp:nvSpPr>
        <dsp:cNvPr id="0" name=""/>
        <dsp:cNvSpPr/>
      </dsp:nvSpPr>
      <dsp:spPr>
        <a:xfrm>
          <a:off x="2718738" y="76640"/>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Objective: Use polynomial regression (second-degree) to predict overall player ratings, focusing on both financial and skill-based features.</a:t>
          </a:r>
        </a:p>
      </dsp:txBody>
      <dsp:txXfrm>
        <a:off x="2718738" y="76640"/>
        <a:ext cx="2204573" cy="1322743"/>
      </dsp:txXfrm>
    </dsp:sp>
    <dsp:sp modelId="{3CF960B8-6A23-475C-ABAF-59C237AB7CEF}">
      <dsp:nvSpPr>
        <dsp:cNvPr id="0" name=""/>
        <dsp:cNvSpPr/>
      </dsp:nvSpPr>
      <dsp:spPr>
        <a:xfrm>
          <a:off x="7633136" y="692292"/>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58686" y="735474"/>
        <a:ext cx="25352" cy="5075"/>
      </dsp:txXfrm>
    </dsp:sp>
    <dsp:sp modelId="{C1A7BFA7-9AE3-4B22-A032-4A804B256427}">
      <dsp:nvSpPr>
        <dsp:cNvPr id="0" name=""/>
        <dsp:cNvSpPr/>
      </dsp:nvSpPr>
      <dsp:spPr>
        <a:xfrm>
          <a:off x="5430363" y="76640"/>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Model Performance:</a:t>
          </a:r>
        </a:p>
      </dsp:txBody>
      <dsp:txXfrm>
        <a:off x="5430363" y="76640"/>
        <a:ext cx="2204573" cy="1322743"/>
      </dsp:txXfrm>
    </dsp:sp>
    <dsp:sp modelId="{42B606A0-63E0-45D7-A816-1BD3B7DC481D}">
      <dsp:nvSpPr>
        <dsp:cNvPr id="0" name=""/>
        <dsp:cNvSpPr/>
      </dsp:nvSpPr>
      <dsp:spPr>
        <a:xfrm>
          <a:off x="1109400" y="1397584"/>
          <a:ext cx="8134874" cy="476451"/>
        </a:xfrm>
        <a:custGeom>
          <a:avLst/>
          <a:gdLst/>
          <a:ahLst/>
          <a:cxnLst/>
          <a:rect l="0" t="0" r="0" b="0"/>
          <a:pathLst>
            <a:path>
              <a:moveTo>
                <a:pt x="8134874" y="0"/>
              </a:moveTo>
              <a:lnTo>
                <a:pt x="8134874" y="255325"/>
              </a:lnTo>
              <a:lnTo>
                <a:pt x="0" y="255325"/>
              </a:lnTo>
              <a:lnTo>
                <a:pt x="0" y="476451"/>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73070" y="1633272"/>
        <a:ext cx="407533" cy="5075"/>
      </dsp:txXfrm>
    </dsp:sp>
    <dsp:sp modelId="{B3AB62F7-2B1B-4583-B3B0-4BD903335CD3}">
      <dsp:nvSpPr>
        <dsp:cNvPr id="0" name=""/>
        <dsp:cNvSpPr/>
      </dsp:nvSpPr>
      <dsp:spPr>
        <a:xfrm>
          <a:off x="8141988" y="76640"/>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R-squared: 0.9542 (95% of variance explained)MSE: 2.06 (higher precision than linear regression)</a:t>
          </a:r>
        </a:p>
      </dsp:txBody>
      <dsp:txXfrm>
        <a:off x="8141988" y="76640"/>
        <a:ext cx="2204573" cy="1322743"/>
      </dsp:txXfrm>
    </dsp:sp>
    <dsp:sp modelId="{010BD200-4986-42BA-841F-D4162EE04B63}">
      <dsp:nvSpPr>
        <dsp:cNvPr id="0" name=""/>
        <dsp:cNvSpPr/>
      </dsp:nvSpPr>
      <dsp:spPr>
        <a:xfrm>
          <a:off x="2209886" y="2522087"/>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436" y="2565270"/>
        <a:ext cx="25352" cy="5075"/>
      </dsp:txXfrm>
    </dsp:sp>
    <dsp:sp modelId="{BD039AE7-D189-4B89-AD50-49EECCE1AB40}">
      <dsp:nvSpPr>
        <dsp:cNvPr id="0" name=""/>
        <dsp:cNvSpPr/>
      </dsp:nvSpPr>
      <dsp:spPr>
        <a:xfrm>
          <a:off x="7113" y="1906435"/>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Key Insights:</a:t>
          </a:r>
        </a:p>
      </dsp:txBody>
      <dsp:txXfrm>
        <a:off x="7113" y="1906435"/>
        <a:ext cx="2204573" cy="1322743"/>
      </dsp:txXfrm>
    </dsp:sp>
    <dsp:sp modelId="{26178F07-82C0-4AD1-8032-72A9B696C77B}">
      <dsp:nvSpPr>
        <dsp:cNvPr id="0" name=""/>
        <dsp:cNvSpPr/>
      </dsp:nvSpPr>
      <dsp:spPr>
        <a:xfrm>
          <a:off x="4921511" y="2522087"/>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47061" y="2565270"/>
        <a:ext cx="25352" cy="5075"/>
      </dsp:txXfrm>
    </dsp:sp>
    <dsp:sp modelId="{B7E09389-CDD7-4981-BD77-F33D23B66F71}">
      <dsp:nvSpPr>
        <dsp:cNvPr id="0" name=""/>
        <dsp:cNvSpPr/>
      </dsp:nvSpPr>
      <dsp:spPr>
        <a:xfrm>
          <a:off x="2718738" y="1906435"/>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Significant contributors include wage_eur, age, and complex skill interactions.</a:t>
          </a:r>
        </a:p>
      </dsp:txBody>
      <dsp:txXfrm>
        <a:off x="2718738" y="1906435"/>
        <a:ext cx="2204573" cy="1322743"/>
      </dsp:txXfrm>
    </dsp:sp>
    <dsp:sp modelId="{F2C52C87-074B-4253-8896-FE35B0AA58EE}">
      <dsp:nvSpPr>
        <dsp:cNvPr id="0" name=""/>
        <dsp:cNvSpPr/>
      </dsp:nvSpPr>
      <dsp:spPr>
        <a:xfrm>
          <a:off x="7633136" y="2522087"/>
          <a:ext cx="476451" cy="91440"/>
        </a:xfrm>
        <a:custGeom>
          <a:avLst/>
          <a:gdLst/>
          <a:ahLst/>
          <a:cxnLst/>
          <a:rect l="0" t="0" r="0" b="0"/>
          <a:pathLst>
            <a:path>
              <a:moveTo>
                <a:pt x="0" y="45720"/>
              </a:moveTo>
              <a:lnTo>
                <a:pt x="476451"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58686" y="2565270"/>
        <a:ext cx="25352" cy="5075"/>
      </dsp:txXfrm>
    </dsp:sp>
    <dsp:sp modelId="{5639A2E4-7181-46F6-AFC7-37B3A0ECEBBC}">
      <dsp:nvSpPr>
        <dsp:cNvPr id="0" name=""/>
        <dsp:cNvSpPr/>
      </dsp:nvSpPr>
      <dsp:spPr>
        <a:xfrm>
          <a:off x="5430363" y="1906435"/>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Higher accuracy: Incorporating non-linear relationships among skill metrics results in improved predictive power.</a:t>
          </a:r>
        </a:p>
      </dsp:txBody>
      <dsp:txXfrm>
        <a:off x="5430363" y="1906435"/>
        <a:ext cx="2204573" cy="1322743"/>
      </dsp:txXfrm>
    </dsp:sp>
    <dsp:sp modelId="{61367AF5-A0AB-4A80-9329-876F5E186222}">
      <dsp:nvSpPr>
        <dsp:cNvPr id="0" name=""/>
        <dsp:cNvSpPr/>
      </dsp:nvSpPr>
      <dsp:spPr>
        <a:xfrm>
          <a:off x="8141988" y="1906435"/>
          <a:ext cx="2204573" cy="13227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026" tIns="113392" rIns="108026" bIns="113392" numCol="1" spcCol="1270" anchor="ctr" anchorCtr="0">
          <a:noAutofit/>
        </a:bodyPr>
        <a:lstStyle/>
        <a:p>
          <a:pPr marL="0" lvl="0" indent="0" algn="ctr" defTabSz="533400">
            <a:lnSpc>
              <a:spcPct val="90000"/>
            </a:lnSpc>
            <a:spcBef>
              <a:spcPct val="0"/>
            </a:spcBef>
            <a:spcAft>
              <a:spcPct val="35000"/>
            </a:spcAft>
            <a:buNone/>
          </a:pPr>
          <a:r>
            <a:rPr lang="en-US" sz="1200" kern="1200"/>
            <a:t>Interpretation: The model captures complex interactions in player skills and financial metrics, offering a more nuanced view of player ratings than linear regression.</a:t>
          </a:r>
        </a:p>
      </dsp:txBody>
      <dsp:txXfrm>
        <a:off x="8141988" y="1906435"/>
        <a:ext cx="2204573" cy="13227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E542C7-7FE1-4D72-A8AD-044F090C29C9}">
      <dsp:nvSpPr>
        <dsp:cNvPr id="0" name=""/>
        <dsp:cNvSpPr/>
      </dsp:nvSpPr>
      <dsp:spPr>
        <a:xfrm>
          <a:off x="3033" y="88736"/>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 Splitting Strategy:</a:t>
          </a:r>
        </a:p>
        <a:p>
          <a:pPr marL="0" lvl="0" indent="0" algn="ctr" defTabSz="533400">
            <a:lnSpc>
              <a:spcPct val="90000"/>
            </a:lnSpc>
            <a:spcBef>
              <a:spcPct val="0"/>
            </a:spcBef>
            <a:spcAft>
              <a:spcPct val="35000"/>
            </a:spcAft>
            <a:buNone/>
          </a:pPr>
          <a:r>
            <a:rPr lang="en-US" sz="1200" kern="1200" dirty="0"/>
            <a:t>Training (60%) – Model</a:t>
          </a:r>
        </a:p>
        <a:p>
          <a:pPr marL="0" lvl="0" indent="0" algn="ctr" defTabSz="533400">
            <a:lnSpc>
              <a:spcPct val="90000"/>
            </a:lnSpc>
            <a:spcBef>
              <a:spcPct val="0"/>
            </a:spcBef>
            <a:spcAft>
              <a:spcPct val="35000"/>
            </a:spcAft>
            <a:buNone/>
          </a:pPr>
          <a:r>
            <a:rPr lang="en-US" sz="1200" kern="1200" dirty="0"/>
            <a:t>Training Validation (20%) – Model Tuning </a:t>
          </a:r>
        </a:p>
        <a:p>
          <a:pPr marL="0" lvl="0" indent="0" algn="ctr" defTabSz="533400">
            <a:lnSpc>
              <a:spcPct val="90000"/>
            </a:lnSpc>
            <a:spcBef>
              <a:spcPct val="0"/>
            </a:spcBef>
            <a:spcAft>
              <a:spcPct val="35000"/>
            </a:spcAft>
            <a:buNone/>
          </a:pPr>
          <a:r>
            <a:rPr lang="en-US" sz="1200" kern="1200" dirty="0"/>
            <a:t>Test (20%) – External Validation</a:t>
          </a:r>
        </a:p>
      </dsp:txBody>
      <dsp:txXfrm>
        <a:off x="3033" y="88736"/>
        <a:ext cx="2406420" cy="1443852"/>
      </dsp:txXfrm>
    </dsp:sp>
    <dsp:sp modelId="{AB3F9512-2B0D-4255-864C-C14925325BDB}">
      <dsp:nvSpPr>
        <dsp:cNvPr id="0" name=""/>
        <dsp:cNvSpPr/>
      </dsp:nvSpPr>
      <dsp:spPr>
        <a:xfrm>
          <a:off x="2650095" y="88736"/>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Key Performance Metrics:</a:t>
          </a:r>
        </a:p>
      </dsp:txBody>
      <dsp:txXfrm>
        <a:off x="2650095" y="88736"/>
        <a:ext cx="2406420" cy="1443852"/>
      </dsp:txXfrm>
    </dsp:sp>
    <dsp:sp modelId="{DBBC867D-2225-4CC7-94D1-62AE2D6BA311}">
      <dsp:nvSpPr>
        <dsp:cNvPr id="0" name=""/>
        <dsp:cNvSpPr/>
      </dsp:nvSpPr>
      <dsp:spPr>
        <a:xfrm>
          <a:off x="5297158" y="88736"/>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Training:</a:t>
          </a:r>
        </a:p>
        <a:p>
          <a:pPr marL="0" lvl="0" indent="0" algn="ctr" defTabSz="533400">
            <a:lnSpc>
              <a:spcPct val="90000"/>
            </a:lnSpc>
            <a:spcBef>
              <a:spcPct val="0"/>
            </a:spcBef>
            <a:spcAft>
              <a:spcPct val="35000"/>
            </a:spcAft>
            <a:buNone/>
          </a:pPr>
          <a:r>
            <a:rPr lang="en-US" sz="1200" kern="1200" dirty="0"/>
            <a:t>R² = 0.9539</a:t>
          </a:r>
        </a:p>
        <a:p>
          <a:pPr marL="0" lvl="0" indent="0" algn="ctr" defTabSz="533400">
            <a:lnSpc>
              <a:spcPct val="90000"/>
            </a:lnSpc>
            <a:spcBef>
              <a:spcPct val="0"/>
            </a:spcBef>
            <a:spcAft>
              <a:spcPct val="35000"/>
            </a:spcAft>
            <a:buNone/>
          </a:pPr>
          <a:r>
            <a:rPr lang="en-US" sz="1200" kern="1200" dirty="0"/>
            <a:t>MSE = 1.437</a:t>
          </a:r>
        </a:p>
      </dsp:txBody>
      <dsp:txXfrm>
        <a:off x="5297158" y="88736"/>
        <a:ext cx="2406420" cy="1443852"/>
      </dsp:txXfrm>
    </dsp:sp>
    <dsp:sp modelId="{1CBD1D5E-D229-4E88-8234-32FEE16B7586}">
      <dsp:nvSpPr>
        <dsp:cNvPr id="0" name=""/>
        <dsp:cNvSpPr/>
      </dsp:nvSpPr>
      <dsp:spPr>
        <a:xfrm>
          <a:off x="7944221" y="88736"/>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Validation:</a:t>
          </a:r>
        </a:p>
        <a:p>
          <a:pPr marL="0" lvl="0" indent="0" algn="ctr" defTabSz="533400">
            <a:lnSpc>
              <a:spcPct val="90000"/>
            </a:lnSpc>
            <a:spcBef>
              <a:spcPct val="0"/>
            </a:spcBef>
            <a:spcAft>
              <a:spcPct val="35000"/>
            </a:spcAft>
            <a:buNone/>
          </a:pPr>
          <a:r>
            <a:rPr lang="en-US" sz="1200" kern="1200" dirty="0"/>
            <a:t>R² = 0.9556</a:t>
          </a:r>
        </a:p>
        <a:p>
          <a:pPr marL="0" lvl="0" indent="0" algn="ctr" defTabSz="533400">
            <a:lnSpc>
              <a:spcPct val="90000"/>
            </a:lnSpc>
            <a:spcBef>
              <a:spcPct val="0"/>
            </a:spcBef>
            <a:spcAft>
              <a:spcPct val="35000"/>
            </a:spcAft>
            <a:buNone/>
          </a:pPr>
          <a:r>
            <a:rPr lang="en-US" sz="1200" kern="1200" dirty="0"/>
            <a:t>MSE = 2.02</a:t>
          </a:r>
        </a:p>
        <a:p>
          <a:pPr marL="0" lvl="0" indent="0" algn="ctr" defTabSz="533400">
            <a:lnSpc>
              <a:spcPct val="90000"/>
            </a:lnSpc>
            <a:spcBef>
              <a:spcPct val="0"/>
            </a:spcBef>
            <a:spcAft>
              <a:spcPct val="35000"/>
            </a:spcAft>
            <a:buNone/>
          </a:pPr>
          <a:endParaRPr lang="en-US" sz="1200" kern="1200" dirty="0"/>
        </a:p>
      </dsp:txBody>
      <dsp:txXfrm>
        <a:off x="7944221" y="88736"/>
        <a:ext cx="2406420" cy="1443852"/>
      </dsp:txXfrm>
    </dsp:sp>
    <dsp:sp modelId="{ABA3F04D-AFCB-40DB-83E8-6A27EDA7F7F1}">
      <dsp:nvSpPr>
        <dsp:cNvPr id="0" name=""/>
        <dsp:cNvSpPr/>
      </dsp:nvSpPr>
      <dsp:spPr>
        <a:xfrm>
          <a:off x="1326564" y="1773231"/>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Test:</a:t>
          </a:r>
        </a:p>
        <a:p>
          <a:pPr marL="0" lvl="0" indent="0" algn="ctr" defTabSz="533400">
            <a:lnSpc>
              <a:spcPct val="90000"/>
            </a:lnSpc>
            <a:spcBef>
              <a:spcPct val="0"/>
            </a:spcBef>
            <a:spcAft>
              <a:spcPct val="35000"/>
            </a:spcAft>
            <a:buNone/>
          </a:pPr>
          <a:r>
            <a:rPr lang="en-US" sz="1200" kern="1200" dirty="0"/>
            <a:t>R² = 0.9529</a:t>
          </a:r>
        </a:p>
        <a:p>
          <a:pPr marL="0" lvl="0" indent="0" algn="ctr" defTabSz="533400">
            <a:lnSpc>
              <a:spcPct val="90000"/>
            </a:lnSpc>
            <a:spcBef>
              <a:spcPct val="0"/>
            </a:spcBef>
            <a:spcAft>
              <a:spcPct val="35000"/>
            </a:spcAft>
            <a:buNone/>
          </a:pPr>
          <a:r>
            <a:rPr lang="en-US" sz="1200" kern="1200" dirty="0"/>
            <a:t>MSE = 2.15</a:t>
          </a:r>
        </a:p>
      </dsp:txBody>
      <dsp:txXfrm>
        <a:off x="1326564" y="1773231"/>
        <a:ext cx="2406420" cy="1443852"/>
      </dsp:txXfrm>
    </dsp:sp>
    <dsp:sp modelId="{AC684FF2-B515-435E-9782-E795886D67DB}">
      <dsp:nvSpPr>
        <dsp:cNvPr id="0" name=""/>
        <dsp:cNvSpPr/>
      </dsp:nvSpPr>
      <dsp:spPr>
        <a:xfrm>
          <a:off x="3973627" y="1773231"/>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Conclusion:</a:t>
          </a:r>
        </a:p>
      </dsp:txBody>
      <dsp:txXfrm>
        <a:off x="3973627" y="1773231"/>
        <a:ext cx="2406420" cy="1443852"/>
      </dsp:txXfrm>
    </dsp:sp>
    <dsp:sp modelId="{252828A4-A8B2-4D54-99A5-99B4C9A142FD}">
      <dsp:nvSpPr>
        <dsp:cNvPr id="0" name=""/>
        <dsp:cNvSpPr/>
      </dsp:nvSpPr>
      <dsp:spPr>
        <a:xfrm>
          <a:off x="6620689" y="1773231"/>
          <a:ext cx="2406420" cy="144385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High R² and low MSE across all sets demonstrate strong predictive accuracy and generalizability of the polynomial regression model, indicating effective capture of non-linear relationships in player ratings.</a:t>
          </a:r>
        </a:p>
      </dsp:txBody>
      <dsp:txXfrm>
        <a:off x="6620689" y="1773231"/>
        <a:ext cx="2406420" cy="14438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19C05B-ECB2-46C8-9880-437EA1ACA9E4}">
      <dsp:nvSpPr>
        <dsp:cNvPr id="0" name=""/>
        <dsp:cNvSpPr/>
      </dsp:nvSpPr>
      <dsp:spPr>
        <a:xfrm>
          <a:off x="0" y="0"/>
          <a:ext cx="5924550" cy="0"/>
        </a:xfrm>
        <a:prstGeom prst="line">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w="12700" cap="flat" cmpd="sng" algn="ctr">
          <a:solidFill>
            <a:schemeClr val="accent2">
              <a:hueOff val="0"/>
              <a:satOff val="0"/>
              <a:lumOff val="0"/>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92F7DFD8-8769-49D6-B20E-A9906AFD3CCB}">
      <dsp:nvSpPr>
        <dsp:cNvPr id="0" name=""/>
        <dsp:cNvSpPr/>
      </dsp:nvSpPr>
      <dsp:spPr>
        <a:xfrm>
          <a:off x="0" y="0"/>
          <a:ext cx="5924550" cy="1157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QQ Plots</a:t>
          </a:r>
        </a:p>
        <a:p>
          <a:pPr marL="0" lvl="0" indent="0" algn="l" defTabSz="577850">
            <a:lnSpc>
              <a:spcPct val="90000"/>
            </a:lnSpc>
            <a:spcBef>
              <a:spcPct val="0"/>
            </a:spcBef>
            <a:spcAft>
              <a:spcPct val="35000"/>
            </a:spcAft>
            <a:buNone/>
          </a:pPr>
          <a:r>
            <a:rPr lang="en-US" sz="1300" kern="1200" dirty="0"/>
            <a:t>Objective: Assess normality of residuals.</a:t>
          </a:r>
        </a:p>
        <a:p>
          <a:pPr marL="0" lvl="0" indent="0" algn="l" defTabSz="577850">
            <a:lnSpc>
              <a:spcPct val="90000"/>
            </a:lnSpc>
            <a:spcBef>
              <a:spcPct val="0"/>
            </a:spcBef>
            <a:spcAft>
              <a:spcPct val="35000"/>
            </a:spcAft>
            <a:buNone/>
          </a:pPr>
          <a:r>
            <a:rPr lang="en-US" sz="1300" kern="1200" dirty="0"/>
            <a:t>Insights: Residuals closely follow the normal line across training, validation, and test sets, with minor deviations in the tails, indicating approximate normality.</a:t>
          </a:r>
        </a:p>
      </dsp:txBody>
      <dsp:txXfrm>
        <a:off x="0" y="0"/>
        <a:ext cx="5924550" cy="1157287"/>
      </dsp:txXfrm>
    </dsp:sp>
    <dsp:sp modelId="{35FE44D1-2EC5-4673-B979-D3D31A788BEE}">
      <dsp:nvSpPr>
        <dsp:cNvPr id="0" name=""/>
        <dsp:cNvSpPr/>
      </dsp:nvSpPr>
      <dsp:spPr>
        <a:xfrm>
          <a:off x="0" y="1157287"/>
          <a:ext cx="5924550" cy="0"/>
        </a:xfrm>
        <a:prstGeom prst="line">
          <a:avLst/>
        </a:prstGeom>
        <a:gradFill rotWithShape="0">
          <a:gsLst>
            <a:gs pos="0">
              <a:schemeClr val="accent2">
                <a:hueOff val="737640"/>
                <a:satOff val="3400"/>
                <a:lumOff val="523"/>
                <a:alphaOff val="0"/>
                <a:tint val="94000"/>
                <a:satMod val="100000"/>
                <a:lumMod val="104000"/>
              </a:schemeClr>
            </a:gs>
            <a:gs pos="69000">
              <a:schemeClr val="accent2">
                <a:hueOff val="737640"/>
                <a:satOff val="3400"/>
                <a:lumOff val="523"/>
                <a:alphaOff val="0"/>
                <a:shade val="86000"/>
                <a:satMod val="130000"/>
                <a:lumMod val="102000"/>
              </a:schemeClr>
            </a:gs>
            <a:gs pos="100000">
              <a:schemeClr val="accent2">
                <a:hueOff val="737640"/>
                <a:satOff val="3400"/>
                <a:lumOff val="523"/>
                <a:alphaOff val="0"/>
                <a:shade val="72000"/>
                <a:satMod val="130000"/>
                <a:lumMod val="100000"/>
              </a:schemeClr>
            </a:gs>
          </a:gsLst>
          <a:lin ang="5400000" scaled="0"/>
        </a:gradFill>
        <a:ln w="12700" cap="flat" cmpd="sng" algn="ctr">
          <a:solidFill>
            <a:schemeClr val="accent2">
              <a:hueOff val="737640"/>
              <a:satOff val="3400"/>
              <a:lumOff val="523"/>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ECAA8BBF-AC16-47F0-9B38-01A309D78E5C}">
      <dsp:nvSpPr>
        <dsp:cNvPr id="0" name=""/>
        <dsp:cNvSpPr/>
      </dsp:nvSpPr>
      <dsp:spPr>
        <a:xfrm>
          <a:off x="0" y="1157287"/>
          <a:ext cx="5924550" cy="1157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Histograms of Residuals</a:t>
          </a:r>
        </a:p>
        <a:p>
          <a:pPr marL="0" lvl="0" indent="0" algn="l" defTabSz="577850">
            <a:lnSpc>
              <a:spcPct val="90000"/>
            </a:lnSpc>
            <a:spcBef>
              <a:spcPct val="0"/>
            </a:spcBef>
            <a:spcAft>
              <a:spcPct val="35000"/>
            </a:spcAft>
            <a:buNone/>
          </a:pPr>
          <a:r>
            <a:rPr lang="en-US" sz="1300" kern="1200" dirty="0"/>
            <a:t>Objective: Visualize residual distribution.</a:t>
          </a:r>
        </a:p>
        <a:p>
          <a:pPr marL="0" lvl="0" indent="0" algn="l" defTabSz="577850">
            <a:lnSpc>
              <a:spcPct val="90000"/>
            </a:lnSpc>
            <a:spcBef>
              <a:spcPct val="0"/>
            </a:spcBef>
            <a:spcAft>
              <a:spcPct val="35000"/>
            </a:spcAft>
            <a:buNone/>
          </a:pPr>
          <a:r>
            <a:rPr lang="en-US" sz="1300" kern="1200" dirty="0"/>
            <a:t>Insights: Residuals show a bell-shaped curve around zero, suggesting a normal distribution across all datasets.</a:t>
          </a:r>
        </a:p>
      </dsp:txBody>
      <dsp:txXfrm>
        <a:off x="0" y="1157287"/>
        <a:ext cx="5924550" cy="1157287"/>
      </dsp:txXfrm>
    </dsp:sp>
    <dsp:sp modelId="{AC3D692B-1A68-4EC1-87B4-9934EF23F57A}">
      <dsp:nvSpPr>
        <dsp:cNvPr id="0" name=""/>
        <dsp:cNvSpPr/>
      </dsp:nvSpPr>
      <dsp:spPr>
        <a:xfrm>
          <a:off x="0" y="2314574"/>
          <a:ext cx="5924550" cy="0"/>
        </a:xfrm>
        <a:prstGeom prst="line">
          <a:avLst/>
        </a:prstGeom>
        <a:gradFill rotWithShape="0">
          <a:gsLst>
            <a:gs pos="0">
              <a:schemeClr val="accent2">
                <a:hueOff val="1475280"/>
                <a:satOff val="6801"/>
                <a:lumOff val="1046"/>
                <a:alphaOff val="0"/>
                <a:tint val="94000"/>
                <a:satMod val="100000"/>
                <a:lumMod val="104000"/>
              </a:schemeClr>
            </a:gs>
            <a:gs pos="69000">
              <a:schemeClr val="accent2">
                <a:hueOff val="1475280"/>
                <a:satOff val="6801"/>
                <a:lumOff val="1046"/>
                <a:alphaOff val="0"/>
                <a:shade val="86000"/>
                <a:satMod val="130000"/>
                <a:lumMod val="102000"/>
              </a:schemeClr>
            </a:gs>
            <a:gs pos="100000">
              <a:schemeClr val="accent2">
                <a:hueOff val="1475280"/>
                <a:satOff val="6801"/>
                <a:lumOff val="1046"/>
                <a:alphaOff val="0"/>
                <a:shade val="72000"/>
                <a:satMod val="130000"/>
                <a:lumMod val="100000"/>
              </a:schemeClr>
            </a:gs>
          </a:gsLst>
          <a:lin ang="5400000" scaled="0"/>
        </a:gradFill>
        <a:ln w="12700" cap="flat" cmpd="sng" algn="ctr">
          <a:solidFill>
            <a:schemeClr val="accent2">
              <a:hueOff val="1475280"/>
              <a:satOff val="6801"/>
              <a:lumOff val="1046"/>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2F7E3298-2C75-4492-B1B9-FE099C961F64}">
      <dsp:nvSpPr>
        <dsp:cNvPr id="0" name=""/>
        <dsp:cNvSpPr/>
      </dsp:nvSpPr>
      <dsp:spPr>
        <a:xfrm>
          <a:off x="0" y="2314574"/>
          <a:ext cx="5924550" cy="1157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Residuals vs. Fitted Values</a:t>
          </a:r>
        </a:p>
        <a:p>
          <a:pPr marL="0" lvl="0" indent="0" algn="l" defTabSz="577850">
            <a:lnSpc>
              <a:spcPct val="90000"/>
            </a:lnSpc>
            <a:spcBef>
              <a:spcPct val="0"/>
            </a:spcBef>
            <a:spcAft>
              <a:spcPct val="35000"/>
            </a:spcAft>
            <a:buNone/>
          </a:pPr>
          <a:r>
            <a:rPr lang="en-US" sz="1300" kern="1200" dirty="0"/>
            <a:t>Objective: Check for constant variance (homoscedasticity).</a:t>
          </a:r>
        </a:p>
        <a:p>
          <a:pPr marL="0" lvl="0" indent="0" algn="l" defTabSz="577850">
            <a:lnSpc>
              <a:spcPct val="90000"/>
            </a:lnSpc>
            <a:spcBef>
              <a:spcPct val="0"/>
            </a:spcBef>
            <a:spcAft>
              <a:spcPct val="35000"/>
            </a:spcAft>
            <a:buNone/>
          </a:pPr>
          <a:r>
            <a:rPr lang="en-US" sz="1300" kern="1200" dirty="0"/>
            <a:t>Insights: Residuals scatter evenly around zero without clear patterns, indicating homoscedasticity, supporting model assumptions.</a:t>
          </a:r>
        </a:p>
      </dsp:txBody>
      <dsp:txXfrm>
        <a:off x="0" y="2314574"/>
        <a:ext cx="5924550" cy="1157287"/>
      </dsp:txXfrm>
    </dsp:sp>
    <dsp:sp modelId="{2C7F84F6-5D6A-4777-9568-779F330BB3CC}">
      <dsp:nvSpPr>
        <dsp:cNvPr id="0" name=""/>
        <dsp:cNvSpPr/>
      </dsp:nvSpPr>
      <dsp:spPr>
        <a:xfrm>
          <a:off x="0" y="3471862"/>
          <a:ext cx="5924550" cy="0"/>
        </a:xfrm>
        <a:prstGeom prst="line">
          <a:avLst/>
        </a:prstGeom>
        <a:gradFill rotWithShape="0">
          <a:gsLst>
            <a:gs pos="0">
              <a:schemeClr val="accent2">
                <a:hueOff val="2212920"/>
                <a:satOff val="10201"/>
                <a:lumOff val="1569"/>
                <a:alphaOff val="0"/>
                <a:tint val="94000"/>
                <a:satMod val="100000"/>
                <a:lumMod val="104000"/>
              </a:schemeClr>
            </a:gs>
            <a:gs pos="69000">
              <a:schemeClr val="accent2">
                <a:hueOff val="2212920"/>
                <a:satOff val="10201"/>
                <a:lumOff val="1569"/>
                <a:alphaOff val="0"/>
                <a:shade val="86000"/>
                <a:satMod val="130000"/>
                <a:lumMod val="102000"/>
              </a:schemeClr>
            </a:gs>
            <a:gs pos="100000">
              <a:schemeClr val="accent2">
                <a:hueOff val="2212920"/>
                <a:satOff val="10201"/>
                <a:lumOff val="1569"/>
                <a:alphaOff val="0"/>
                <a:shade val="72000"/>
                <a:satMod val="130000"/>
                <a:lumMod val="100000"/>
              </a:schemeClr>
            </a:gs>
          </a:gsLst>
          <a:lin ang="5400000" scaled="0"/>
        </a:gradFill>
        <a:ln w="12700" cap="flat" cmpd="sng" algn="ctr">
          <a:solidFill>
            <a:schemeClr val="accent2">
              <a:hueOff val="2212920"/>
              <a:satOff val="10201"/>
              <a:lumOff val="1569"/>
              <a:alphaOff val="0"/>
            </a:schemeClr>
          </a:solidFill>
          <a:prstDash val="solid"/>
        </a:ln>
        <a:effectLst>
          <a:outerShdw blurRad="50800" dist="38100" dir="5400000" sy="96000" rotWithShape="0">
            <a:srgbClr val="000000">
              <a:alpha val="54000"/>
            </a:srgbClr>
          </a:outerShdw>
        </a:effectLst>
      </dsp:spPr>
      <dsp:style>
        <a:lnRef idx="1">
          <a:scrgbClr r="0" g="0" b="0"/>
        </a:lnRef>
        <a:fillRef idx="3">
          <a:scrgbClr r="0" g="0" b="0"/>
        </a:fillRef>
        <a:effectRef idx="2">
          <a:scrgbClr r="0" g="0" b="0"/>
        </a:effectRef>
        <a:fontRef idx="minor">
          <a:schemeClr val="lt1"/>
        </a:fontRef>
      </dsp:style>
    </dsp:sp>
    <dsp:sp modelId="{85A15748-99A7-43B7-91D1-0916D20A43BF}">
      <dsp:nvSpPr>
        <dsp:cNvPr id="0" name=""/>
        <dsp:cNvSpPr/>
      </dsp:nvSpPr>
      <dsp:spPr>
        <a:xfrm>
          <a:off x="0" y="3471862"/>
          <a:ext cx="5924550" cy="1157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Conclusion: </a:t>
          </a:r>
        </a:p>
        <a:p>
          <a:pPr marL="0" lvl="0" indent="0" algn="l" defTabSz="577850">
            <a:lnSpc>
              <a:spcPct val="90000"/>
            </a:lnSpc>
            <a:spcBef>
              <a:spcPct val="0"/>
            </a:spcBef>
            <a:spcAft>
              <a:spcPct val="35000"/>
            </a:spcAft>
            <a:buNone/>
          </a:pPr>
          <a:r>
            <a:rPr lang="en-US" sz="1300" kern="1200" dirty="0"/>
            <a:t>The residual analysis supports that the polynomial regression model captures data patterns well, with approximately normal and homoscedastic residuals across training, validation, and test datasets, affirming model reliability.</a:t>
          </a:r>
        </a:p>
      </dsp:txBody>
      <dsp:txXfrm>
        <a:off x="0" y="3471862"/>
        <a:ext cx="5924550" cy="115728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F9B3D6-3ADC-41CF-9C8C-959BA414F63F}" type="datetimeFigureOut">
              <a:rPr lang="en-US" smtClean="0"/>
              <a:t>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738E2-3C02-46E3-B29D-575035999707}" type="slidenum">
              <a:rPr lang="en-US" smtClean="0"/>
              <a:t>‹#›</a:t>
            </a:fld>
            <a:endParaRPr lang="en-US"/>
          </a:p>
        </p:txBody>
      </p:sp>
    </p:spTree>
    <p:extLst>
      <p:ext uri="{BB962C8B-B14F-4D97-AF65-F5344CB8AC3E}">
        <p14:creationId xmlns:p14="http://schemas.microsoft.com/office/powerpoint/2010/main" val="2268384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0F851A-4344-41F4-99B7-A8FD2D9631B2}"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16053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0F851A-4344-41F4-99B7-A8FD2D9631B2}"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188064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0F851A-4344-41F4-99B7-A8FD2D9631B2}"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336695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345115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0F851A-4344-41F4-99B7-A8FD2D9631B2}" type="datetimeFigureOut">
              <a:rPr lang="en-US" smtClean="0"/>
              <a:t>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1147410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0F851A-4344-41F4-99B7-A8FD2D9631B2}" type="datetimeFigureOut">
              <a:rPr lang="en-US" smtClean="0"/>
              <a:t>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307408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0F851A-4344-41F4-99B7-A8FD2D9631B2}" type="datetimeFigureOut">
              <a:rPr lang="en-US" smtClean="0"/>
              <a:t>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041873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1374268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79895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502331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3526842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02266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0F851A-4344-41F4-99B7-A8FD2D9631B2}"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3821467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0F851A-4344-41F4-99B7-A8FD2D9631B2}" type="datetimeFigureOut">
              <a:rPr lang="en-US" smtClean="0"/>
              <a:t>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1287881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0F851A-4344-41F4-99B7-A8FD2D9631B2}" type="datetimeFigureOut">
              <a:rPr lang="en-US" smtClean="0"/>
              <a:t>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1510668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0F851A-4344-41F4-99B7-A8FD2D9631B2}"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68210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0F851A-4344-41F4-99B7-A8FD2D9631B2}"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E10F9-759F-46ED-8AAC-EBEACD042D79}" type="slidenum">
              <a:rPr lang="en-US" smtClean="0"/>
              <a:t>‹#›</a:t>
            </a:fld>
            <a:endParaRPr lang="en-US"/>
          </a:p>
        </p:txBody>
      </p:sp>
    </p:spTree>
    <p:extLst>
      <p:ext uri="{BB962C8B-B14F-4D97-AF65-F5344CB8AC3E}">
        <p14:creationId xmlns:p14="http://schemas.microsoft.com/office/powerpoint/2010/main" val="2747864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B0F851A-4344-41F4-99B7-A8FD2D9631B2}" type="datetimeFigureOut">
              <a:rPr lang="en-US" smtClean="0"/>
              <a:t>2/1/2025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2FE10F9-759F-46ED-8AAC-EBEACD042D79}" type="slidenum">
              <a:rPr lang="en-US" smtClean="0"/>
              <a:t>‹#›</a:t>
            </a:fld>
            <a:endParaRPr lang="en-US"/>
          </a:p>
        </p:txBody>
      </p:sp>
    </p:spTree>
    <p:extLst>
      <p:ext uri="{BB962C8B-B14F-4D97-AF65-F5344CB8AC3E}">
        <p14:creationId xmlns:p14="http://schemas.microsoft.com/office/powerpoint/2010/main" val="311104719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12" name="Picture 11" descr="Foosball soccer players">
            <a:extLst>
              <a:ext uri="{FF2B5EF4-FFF2-40B4-BE49-F238E27FC236}">
                <a16:creationId xmlns:a16="http://schemas.microsoft.com/office/drawing/2014/main" id="{B13A9FFB-F0CA-F274-40D3-ACE84A7194AF}"/>
              </a:ext>
            </a:extLst>
          </p:cNvPr>
          <p:cNvPicPr>
            <a:picLocks noChangeAspect="1"/>
          </p:cNvPicPr>
          <p:nvPr/>
        </p:nvPicPr>
        <p:blipFill>
          <a:blip r:embed="rId3">
            <a:alphaModFix amt="35000"/>
            <a:grayscl/>
          </a:blip>
          <a:srcRect t="5554" b="9860"/>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FC23C8D4-BD3D-4473-B3D0-89011586B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5000"/>
                </a:schemeClr>
              </a:gs>
              <a:gs pos="100000">
                <a:schemeClr val="bg2">
                  <a:lumMod val="40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0875527F-F987-3976-737F-79A26E616C50}"/>
              </a:ext>
            </a:extLst>
          </p:cNvPr>
          <p:cNvSpPr>
            <a:spLocks noGrp="1"/>
          </p:cNvSpPr>
          <p:nvPr>
            <p:ph type="ctrTitle"/>
          </p:nvPr>
        </p:nvSpPr>
        <p:spPr>
          <a:xfrm>
            <a:off x="1595269" y="1122363"/>
            <a:ext cx="9001462" cy="2387600"/>
          </a:xfrm>
        </p:spPr>
        <p:txBody>
          <a:bodyPr vert="horz" lIns="91440" tIns="45720" rIns="91440" bIns="45720" rtlCol="0">
            <a:normAutofit/>
          </a:bodyPr>
          <a:lstStyle/>
          <a:p>
            <a:r>
              <a:rPr lang="en-US"/>
              <a:t>Predicting FIFA Player Ratings </a:t>
            </a:r>
            <a:br>
              <a:rPr lang="en-US"/>
            </a:br>
            <a:r>
              <a:rPr lang="en-US"/>
              <a:t>Using Key Attributes</a:t>
            </a:r>
          </a:p>
        </p:txBody>
      </p:sp>
    </p:spTree>
    <p:extLst>
      <p:ext uri="{BB962C8B-B14F-4D97-AF65-F5344CB8AC3E}">
        <p14:creationId xmlns:p14="http://schemas.microsoft.com/office/powerpoint/2010/main" val="1388839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4B040D-CD06-B223-5511-1B9FDB12AB23}"/>
              </a:ext>
            </a:extLst>
          </p:cNvPr>
          <p:cNvSpPr>
            <a:spLocks noGrp="1"/>
          </p:cNvSpPr>
          <p:nvPr>
            <p:ph type="title"/>
          </p:nvPr>
        </p:nvSpPr>
        <p:spPr>
          <a:xfrm>
            <a:off x="913795" y="609600"/>
            <a:ext cx="10353761" cy="1326321"/>
          </a:xfrm>
        </p:spPr>
        <p:txBody>
          <a:bodyPr>
            <a:normAutofit/>
          </a:bodyPr>
          <a:lstStyle/>
          <a:p>
            <a:r>
              <a:rPr lang="en-US" b="1"/>
              <a:t>Introduction:</a:t>
            </a:r>
            <a:endParaRPr lang="en-US"/>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114E4B-B13D-3940-C69F-AC6C64DC013F}"/>
              </a:ext>
            </a:extLst>
          </p:cNvPr>
          <p:cNvSpPr>
            <a:spLocks noGrp="1"/>
          </p:cNvSpPr>
          <p:nvPr>
            <p:ph idx="1"/>
          </p:nvPr>
        </p:nvSpPr>
        <p:spPr>
          <a:xfrm>
            <a:off x="1466850" y="2463800"/>
            <a:ext cx="9247652" cy="3327400"/>
          </a:xfrm>
        </p:spPr>
        <p:txBody>
          <a:bodyPr>
            <a:normAutofit/>
          </a:bodyPr>
          <a:lstStyle/>
          <a:p>
            <a:pPr marL="0" indent="0">
              <a:buNone/>
            </a:pPr>
            <a:r>
              <a:rPr lang="en-US" dirty="0"/>
              <a:t>This project aims to predict FIFA player ratings using key attributes, offering valuable insights for both game developers and sports analysts. Accurate player ratings contribute to a more realistic and immersive gaming experience, while helping users make better decisions in both the virtual and real-world sports analysis contexts. By understanding which player attributes most influence the overall rating, our study strives to refine player assessment models, ultimately enhancing gameplay realism.</a:t>
            </a:r>
          </a:p>
        </p:txBody>
      </p:sp>
    </p:spTree>
    <p:extLst>
      <p:ext uri="{BB962C8B-B14F-4D97-AF65-F5344CB8AC3E}">
        <p14:creationId xmlns:p14="http://schemas.microsoft.com/office/powerpoint/2010/main" val="1731843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D0E34-58AA-F932-BDB6-CF8B7FE77D99}"/>
              </a:ext>
            </a:extLst>
          </p:cNvPr>
          <p:cNvSpPr>
            <a:spLocks noGrp="1"/>
          </p:cNvSpPr>
          <p:nvPr>
            <p:ph type="title"/>
          </p:nvPr>
        </p:nvSpPr>
        <p:spPr>
          <a:xfrm>
            <a:off x="752475" y="609600"/>
            <a:ext cx="3643150" cy="5603310"/>
          </a:xfrm>
        </p:spPr>
        <p:txBody>
          <a:bodyPr>
            <a:normAutofit/>
          </a:bodyPr>
          <a:lstStyle/>
          <a:p>
            <a:r>
              <a:rPr lang="en-US" dirty="0"/>
              <a:t>Research Questions </a:t>
            </a:r>
          </a:p>
        </p:txBody>
      </p:sp>
      <p:graphicFrame>
        <p:nvGraphicFramePr>
          <p:cNvPr id="11" name="Content Placeholder 2">
            <a:extLst>
              <a:ext uri="{FF2B5EF4-FFF2-40B4-BE49-F238E27FC236}">
                <a16:creationId xmlns:a16="http://schemas.microsoft.com/office/drawing/2014/main" id="{CF353D66-9DFD-3EB6-C21A-B94739470362}"/>
              </a:ext>
            </a:extLst>
          </p:cNvPr>
          <p:cNvGraphicFramePr>
            <a:graphicFrameLocks noGrp="1"/>
          </p:cNvGraphicFramePr>
          <p:nvPr>
            <p:ph idx="1"/>
            <p:extLst>
              <p:ext uri="{D42A27DB-BD31-4B8C-83A1-F6EECF244321}">
                <p14:modId xmlns:p14="http://schemas.microsoft.com/office/powerpoint/2010/main" val="4129927119"/>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8462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A118-FC7D-42F8-F29E-7EF9F630BD05}"/>
              </a:ext>
            </a:extLst>
          </p:cNvPr>
          <p:cNvSpPr>
            <a:spLocks noGrp="1"/>
          </p:cNvSpPr>
          <p:nvPr>
            <p:ph type="title"/>
          </p:nvPr>
        </p:nvSpPr>
        <p:spPr>
          <a:xfrm>
            <a:off x="4927472" y="609600"/>
            <a:ext cx="6340084" cy="1326321"/>
          </a:xfrm>
        </p:spPr>
        <p:txBody>
          <a:bodyPr>
            <a:normAutofit/>
          </a:bodyPr>
          <a:lstStyle/>
          <a:p>
            <a:r>
              <a:rPr lang="en-US" b="1" dirty="0"/>
              <a:t>Data Description</a:t>
            </a:r>
            <a:endParaRPr lang="en-US" dirty="0"/>
          </a:p>
        </p:txBody>
      </p:sp>
      <p:pic>
        <p:nvPicPr>
          <p:cNvPr id="15" name="Picture 14" descr="Foosball soccer players">
            <a:extLst>
              <a:ext uri="{FF2B5EF4-FFF2-40B4-BE49-F238E27FC236}">
                <a16:creationId xmlns:a16="http://schemas.microsoft.com/office/drawing/2014/main" id="{293C4EC4-0199-8C9E-F732-F92C35415168}"/>
              </a:ext>
            </a:extLst>
          </p:cNvPr>
          <p:cNvPicPr>
            <a:picLocks noChangeAspect="1"/>
          </p:cNvPicPr>
          <p:nvPr/>
        </p:nvPicPr>
        <p:blipFill>
          <a:blip r:embed="rId3"/>
          <a:srcRect l="30643" r="24404"/>
          <a:stretch/>
        </p:blipFill>
        <p:spPr>
          <a:xfrm>
            <a:off x="20" y="10"/>
            <a:ext cx="4635987" cy="6857990"/>
          </a:xfrm>
          <a:prstGeom prst="rect">
            <a:avLst/>
          </a:prstGeom>
        </p:spPr>
      </p:pic>
      <p:sp>
        <p:nvSpPr>
          <p:cNvPr id="16" name="Rectangle 1">
            <a:extLst>
              <a:ext uri="{FF2B5EF4-FFF2-40B4-BE49-F238E27FC236}">
                <a16:creationId xmlns:a16="http://schemas.microsoft.com/office/drawing/2014/main" id="{13FBF11C-11B9-C5D1-79B0-32B19D2AAAE3}"/>
              </a:ext>
            </a:extLst>
          </p:cNvPr>
          <p:cNvSpPr>
            <a:spLocks noGrp="1" noChangeArrowheads="1"/>
          </p:cNvSpPr>
          <p:nvPr>
            <p:ph idx="1"/>
          </p:nvPr>
        </p:nvSpPr>
        <p:spPr bwMode="auto">
          <a:xfrm>
            <a:off x="4927471" y="2096063"/>
            <a:ext cx="6340085" cy="45723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Data Source</a:t>
            </a:r>
            <a:r>
              <a:rPr kumimoji="0" lang="en-US" altLang="en-US" sz="1400" b="0" i="0" u="none" strike="noStrike" cap="none" normalizeH="0" baseline="0" dirty="0">
                <a:ln>
                  <a:noFill/>
                </a:ln>
                <a:effectLst/>
                <a:latin typeface="Arial" panose="020B0604020202020204" pitchFamily="34" charset="0"/>
              </a:rPr>
              <a:t>: Kaggle FIFA Player Dataset (Filtered to 18,000 players from the latest FC24 version)</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Attributes</a:t>
            </a:r>
            <a:r>
              <a:rPr kumimoji="0" lang="en-US" altLang="en-US" sz="14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Player Positions</a:t>
            </a:r>
            <a:r>
              <a:rPr kumimoji="0" lang="en-US" altLang="en-US" sz="1400" b="0" i="0" u="none" strike="noStrike" cap="none" normalizeH="0" baseline="0" dirty="0">
                <a:ln>
                  <a:noFill/>
                </a:ln>
                <a:effectLst/>
                <a:latin typeface="Arial" panose="020B0604020202020204" pitchFamily="34" charset="0"/>
              </a:rPr>
              <a:t>: Roles in both club and national teams</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Player Skills</a:t>
            </a:r>
            <a:r>
              <a:rPr kumimoji="0" lang="en-US" altLang="en-US" sz="1400" b="0" i="0" u="none" strike="noStrike" cap="none" normalizeH="0" baseline="0" dirty="0">
                <a:ln>
                  <a:noFill/>
                </a:ln>
                <a:effectLst/>
                <a:latin typeface="Arial" panose="020B0604020202020204" pitchFamily="34" charset="0"/>
              </a:rPr>
              <a:t>: Attributes like Dribbling, Passing, Speed, Defense, and Mentality</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Player Personal Data</a:t>
            </a:r>
            <a:r>
              <a:rPr kumimoji="0" lang="en-US" altLang="en-US" sz="1400" b="0" i="0" u="none" strike="noStrike" cap="none" normalizeH="0" baseline="0" dirty="0">
                <a:ln>
                  <a:noFill/>
                </a:ln>
                <a:effectLst/>
                <a:latin typeface="Arial" panose="020B0604020202020204" pitchFamily="34" charset="0"/>
              </a:rPr>
              <a:t>: Information including Nationality, Club, Age, Wage, etc.</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Response Variable</a:t>
            </a:r>
            <a:r>
              <a:rPr kumimoji="0" lang="en-US" altLang="en-US" sz="1400" b="0" i="0" u="none" strike="noStrike" cap="none" normalizeH="0" baseline="0" dirty="0">
                <a:ln>
                  <a:noFill/>
                </a:ln>
                <a:effectLst/>
                <a:latin typeface="Arial" panose="020B0604020202020204" pitchFamily="34" charset="0"/>
              </a:rPr>
              <a:t>: Overall player rating</a:t>
            </a:r>
          </a:p>
          <a:p>
            <a:pPr marL="0" marR="0" lvl="0" indent="0" defTabSz="914400" rtl="0" eaLnBrk="0" fontAlgn="base" latinLnBrk="0" hangingPunct="0">
              <a:lnSpc>
                <a:spcPct val="110000"/>
              </a:lnSpc>
              <a:spcBef>
                <a:spcPct val="0"/>
              </a:spcBef>
              <a:spcAft>
                <a:spcPts val="600"/>
              </a:spcAft>
              <a:buClrTx/>
              <a:buSzTx/>
              <a:buNone/>
              <a:tabLst/>
            </a:pPr>
            <a:r>
              <a:rPr kumimoji="0" lang="en-US" altLang="en-US" sz="1400" b="1" i="0" u="none" strike="noStrike" cap="none" normalizeH="0" baseline="0" dirty="0">
                <a:ln>
                  <a:noFill/>
                </a:ln>
                <a:effectLst/>
                <a:latin typeface="Arial" panose="020B0604020202020204" pitchFamily="34" charset="0"/>
              </a:rPr>
              <a:t>Predictor Variables</a:t>
            </a:r>
            <a:r>
              <a:rPr kumimoji="0" lang="en-US" altLang="en-US" sz="1400" b="0" i="0" u="none" strike="noStrike" cap="none" normalizeH="0" baseline="0" dirty="0">
                <a:ln>
                  <a:noFill/>
                </a:ln>
                <a:effectLst/>
                <a:latin typeface="Arial" panose="020B0604020202020204" pitchFamily="34" charset="0"/>
              </a:rPr>
              <a:t>: Key attributes selected to predict ratings, such as:</a:t>
            </a:r>
          </a:p>
          <a:p>
            <a:pPr marL="0" indent="0" eaLnBrk="0" fontAlgn="base" hangingPunct="0">
              <a:lnSpc>
                <a:spcPct val="110000"/>
              </a:lnSpc>
              <a:spcBef>
                <a:spcPct val="0"/>
              </a:spcBef>
              <a:spcAft>
                <a:spcPts val="600"/>
              </a:spcAft>
              <a:buNone/>
            </a:pPr>
            <a:r>
              <a:rPr kumimoji="0" lang="en-US" altLang="en-US" sz="1400" b="0" i="0" u="none" strike="noStrike" cap="none" normalizeH="0" baseline="0" dirty="0">
                <a:ln>
                  <a:noFill/>
                </a:ln>
                <a:effectLst/>
                <a:latin typeface="Arial" panose="020B0604020202020204" pitchFamily="34" charset="0"/>
              </a:rPr>
              <a:t>Dribbling, Passing, Pace, Shooting, Defending, Physic, Week Foot, Skill Moves, Age, Value and Wage		</a:t>
            </a:r>
          </a:p>
          <a:p>
            <a:pPr eaLnBrk="0" fontAlgn="base" hangingPunct="0">
              <a:lnSpc>
                <a:spcPct val="110000"/>
              </a:lnSpc>
              <a:spcBef>
                <a:spcPct val="0"/>
              </a:spcBef>
              <a:spcAft>
                <a:spcPts val="600"/>
              </a:spcAft>
            </a:pPr>
            <a:endParaRPr kumimoji="0" lang="en-US" altLang="en-US" sz="1400" b="0" i="0" u="none" strike="noStrike" cap="none" normalizeH="0" baseline="0" dirty="0">
              <a:ln>
                <a:noFill/>
              </a:ln>
              <a:effectLst/>
              <a:latin typeface="Arial" panose="020B0604020202020204" pitchFamily="34" charset="0"/>
            </a:endParaRPr>
          </a:p>
        </p:txBody>
      </p:sp>
      <p:cxnSp>
        <p:nvCxnSpPr>
          <p:cNvPr id="17" name="Straight Connector 16">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687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DC33A-04BA-90C2-485E-DFC89A0746CF}"/>
              </a:ext>
            </a:extLst>
          </p:cNvPr>
          <p:cNvSpPr>
            <a:spLocks noGrp="1"/>
          </p:cNvSpPr>
          <p:nvPr>
            <p:ph type="title"/>
          </p:nvPr>
        </p:nvSpPr>
        <p:spPr>
          <a:xfrm>
            <a:off x="913796" y="927100"/>
            <a:ext cx="3418766" cy="4616450"/>
          </a:xfrm>
        </p:spPr>
        <p:txBody>
          <a:bodyPr>
            <a:normAutofit/>
          </a:bodyPr>
          <a:lstStyle/>
          <a:p>
            <a:r>
              <a:rPr lang="en-US" b="1" dirty="0"/>
              <a:t>Abstract:</a:t>
            </a:r>
            <a:endParaRPr lang="en-US" dirty="0"/>
          </a:p>
        </p:txBody>
      </p:sp>
      <p:sp>
        <p:nvSpPr>
          <p:cNvPr id="3" name="Content Placeholder 2">
            <a:extLst>
              <a:ext uri="{FF2B5EF4-FFF2-40B4-BE49-F238E27FC236}">
                <a16:creationId xmlns:a16="http://schemas.microsoft.com/office/drawing/2014/main" id="{0C6FDDAB-6900-A5C3-26FA-0E68E1A09F10}"/>
              </a:ext>
            </a:extLst>
          </p:cNvPr>
          <p:cNvSpPr>
            <a:spLocks noGrp="1"/>
          </p:cNvSpPr>
          <p:nvPr>
            <p:ph idx="1"/>
          </p:nvPr>
        </p:nvSpPr>
        <p:spPr>
          <a:xfrm>
            <a:off x="4976029" y="971549"/>
            <a:ext cx="6291528" cy="4616450"/>
          </a:xfrm>
        </p:spPr>
        <p:txBody>
          <a:bodyPr anchor="ctr">
            <a:normAutofit/>
          </a:bodyPr>
          <a:lstStyle/>
          <a:p>
            <a:pPr marL="0" indent="0">
              <a:lnSpc>
                <a:spcPct val="110000"/>
              </a:lnSpc>
              <a:buNone/>
            </a:pPr>
            <a:r>
              <a:rPr lang="en-US" dirty="0"/>
              <a:t>Our study focuses on predicting FIFA player ratings by analyzing specific player attributes, such as dribbling, passing, and speed. Using a filtered FIFA dataset of 18,000 players from the latest FC24 version, we aim to build predictive models that incorporate both multiple linear and polynomial regression techniques. By exploring linear and non-linear relationships, we aim to uncover which attributes best predict a player’s overall rating. The project leverages interaction and second-order terms to capture complex attribute dynamics, with models evaluated based on R-squared and Mean Squared Error (MSE) metrics for optimal accuracy.</a:t>
            </a:r>
            <a:endParaRPr lang="en-US"/>
          </a:p>
        </p:txBody>
      </p:sp>
    </p:spTree>
    <p:extLst>
      <p:ext uri="{BB962C8B-B14F-4D97-AF65-F5344CB8AC3E}">
        <p14:creationId xmlns:p14="http://schemas.microsoft.com/office/powerpoint/2010/main" val="2022613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F8085-5281-A126-3AB9-6A64D742A6FB}"/>
              </a:ext>
            </a:extLst>
          </p:cNvPr>
          <p:cNvSpPr>
            <a:spLocks noGrp="1"/>
          </p:cNvSpPr>
          <p:nvPr>
            <p:ph type="title"/>
          </p:nvPr>
        </p:nvSpPr>
        <p:spPr/>
        <p:txBody>
          <a:bodyPr/>
          <a:lstStyle/>
          <a:p>
            <a:r>
              <a:rPr lang="en-US" dirty="0"/>
              <a:t>EXPLORATORY DATA ANALYSIS</a:t>
            </a:r>
          </a:p>
        </p:txBody>
      </p:sp>
      <p:pic>
        <p:nvPicPr>
          <p:cNvPr id="4" name="Content Placeholder 3">
            <a:extLst>
              <a:ext uri="{FF2B5EF4-FFF2-40B4-BE49-F238E27FC236}">
                <a16:creationId xmlns:a16="http://schemas.microsoft.com/office/drawing/2014/main" id="{9E7C6551-2690-88EE-4EA7-09EF1F933162}"/>
              </a:ext>
            </a:extLst>
          </p:cNvPr>
          <p:cNvPicPr>
            <a:picLocks noGrp="1" noChangeAspect="1"/>
          </p:cNvPicPr>
          <p:nvPr>
            <p:ph idx="1"/>
          </p:nvPr>
        </p:nvPicPr>
        <p:blipFill>
          <a:blip r:embed="rId2"/>
          <a:stretch>
            <a:fillRect/>
          </a:stretch>
        </p:blipFill>
        <p:spPr>
          <a:xfrm>
            <a:off x="81500" y="1701208"/>
            <a:ext cx="6014500" cy="5061540"/>
          </a:xfrm>
          <a:prstGeom prst="rect">
            <a:avLst/>
          </a:prstGeom>
        </p:spPr>
      </p:pic>
      <p:pic>
        <p:nvPicPr>
          <p:cNvPr id="5" name="Picture 4">
            <a:extLst>
              <a:ext uri="{FF2B5EF4-FFF2-40B4-BE49-F238E27FC236}">
                <a16:creationId xmlns:a16="http://schemas.microsoft.com/office/drawing/2014/main" id="{31F26358-7830-F144-3F7D-EDBCE37CB037}"/>
              </a:ext>
            </a:extLst>
          </p:cNvPr>
          <p:cNvPicPr>
            <a:picLocks noChangeAspect="1"/>
          </p:cNvPicPr>
          <p:nvPr/>
        </p:nvPicPr>
        <p:blipFill>
          <a:blip r:embed="rId3"/>
          <a:stretch>
            <a:fillRect/>
          </a:stretch>
        </p:blipFill>
        <p:spPr>
          <a:xfrm>
            <a:off x="6188149" y="1701208"/>
            <a:ext cx="5911702" cy="5061541"/>
          </a:xfrm>
          <a:prstGeom prst="rect">
            <a:avLst/>
          </a:prstGeom>
        </p:spPr>
      </p:pic>
    </p:spTree>
    <p:extLst>
      <p:ext uri="{BB962C8B-B14F-4D97-AF65-F5344CB8AC3E}">
        <p14:creationId xmlns:p14="http://schemas.microsoft.com/office/powerpoint/2010/main" val="3817197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4930E9C-0CE2-2C69-D853-241DC3D2B0F6}"/>
              </a:ext>
            </a:extLst>
          </p:cNvPr>
          <p:cNvPicPr>
            <a:picLocks noGrp="1" noChangeAspect="1"/>
          </p:cNvPicPr>
          <p:nvPr>
            <p:ph idx="1"/>
          </p:nvPr>
        </p:nvPicPr>
        <p:blipFill>
          <a:blip r:embed="rId2"/>
          <a:stretch>
            <a:fillRect/>
          </a:stretch>
        </p:blipFill>
        <p:spPr>
          <a:xfrm>
            <a:off x="75514" y="96578"/>
            <a:ext cx="5697965" cy="6666171"/>
          </a:xfrm>
          <a:prstGeom prst="rect">
            <a:avLst/>
          </a:prstGeom>
        </p:spPr>
      </p:pic>
      <p:pic>
        <p:nvPicPr>
          <p:cNvPr id="5" name="Picture 4">
            <a:extLst>
              <a:ext uri="{FF2B5EF4-FFF2-40B4-BE49-F238E27FC236}">
                <a16:creationId xmlns:a16="http://schemas.microsoft.com/office/drawing/2014/main" id="{AA20AE72-9297-8D66-1608-496CED15AEC6}"/>
              </a:ext>
            </a:extLst>
          </p:cNvPr>
          <p:cNvPicPr>
            <a:picLocks noChangeAspect="1"/>
          </p:cNvPicPr>
          <p:nvPr/>
        </p:nvPicPr>
        <p:blipFill>
          <a:blip r:embed="rId3"/>
          <a:stretch>
            <a:fillRect/>
          </a:stretch>
        </p:blipFill>
        <p:spPr>
          <a:xfrm>
            <a:off x="5869172" y="95250"/>
            <a:ext cx="6322828" cy="6667500"/>
          </a:xfrm>
          <a:prstGeom prst="rect">
            <a:avLst/>
          </a:prstGeom>
        </p:spPr>
      </p:pic>
    </p:spTree>
    <p:extLst>
      <p:ext uri="{BB962C8B-B14F-4D97-AF65-F5344CB8AC3E}">
        <p14:creationId xmlns:p14="http://schemas.microsoft.com/office/powerpoint/2010/main" val="1850840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3307-DD5A-CF1E-14A9-8F8300BD0087}"/>
              </a:ext>
            </a:extLst>
          </p:cNvPr>
          <p:cNvSpPr>
            <a:spLocks noGrp="1"/>
          </p:cNvSpPr>
          <p:nvPr>
            <p:ph type="title"/>
          </p:nvPr>
        </p:nvSpPr>
        <p:spPr>
          <a:xfrm>
            <a:off x="913795" y="609600"/>
            <a:ext cx="10353761" cy="1326321"/>
          </a:xfrm>
        </p:spPr>
        <p:txBody>
          <a:bodyPr>
            <a:normAutofit/>
          </a:bodyPr>
          <a:lstStyle/>
          <a:p>
            <a:r>
              <a:rPr lang="en-US" dirty="0"/>
              <a:t>MODELS</a:t>
            </a:r>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2DEA39A-DC87-943A-D628-2C97F3591465}"/>
              </a:ext>
            </a:extLst>
          </p:cNvPr>
          <p:cNvGraphicFramePr>
            <a:graphicFrameLocks noGrp="1"/>
          </p:cNvGraphicFramePr>
          <p:nvPr>
            <p:ph idx="1"/>
            <p:extLst>
              <p:ext uri="{D42A27DB-BD31-4B8C-83A1-F6EECF244321}">
                <p14:modId xmlns:p14="http://schemas.microsoft.com/office/powerpoint/2010/main" val="3104394122"/>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75333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257A0-5830-8166-537D-1338534FB720}"/>
              </a:ext>
            </a:extLst>
          </p:cNvPr>
          <p:cNvSpPr>
            <a:spLocks noGrp="1"/>
          </p:cNvSpPr>
          <p:nvPr>
            <p:ph type="title"/>
          </p:nvPr>
        </p:nvSpPr>
        <p:spPr>
          <a:xfrm>
            <a:off x="913795" y="609600"/>
            <a:ext cx="10353761" cy="1326321"/>
          </a:xfrm>
        </p:spPr>
        <p:txBody>
          <a:bodyPr>
            <a:normAutofit/>
          </a:bodyPr>
          <a:lstStyle/>
          <a:p>
            <a:r>
              <a:rPr lang="en-US" dirty="0"/>
              <a:t>Multiple Linear Regression</a:t>
            </a:r>
          </a:p>
        </p:txBody>
      </p:sp>
      <p:sp>
        <p:nvSpPr>
          <p:cNvPr id="19" name="Rectangle 18">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graphicFrame>
        <p:nvGraphicFramePr>
          <p:cNvPr id="7" name="Content Placeholder 2">
            <a:extLst>
              <a:ext uri="{FF2B5EF4-FFF2-40B4-BE49-F238E27FC236}">
                <a16:creationId xmlns:a16="http://schemas.microsoft.com/office/drawing/2014/main" id="{76634C31-D089-3AED-2213-649025272FB0}"/>
              </a:ext>
            </a:extLst>
          </p:cNvPr>
          <p:cNvGraphicFramePr>
            <a:graphicFrameLocks noGrp="1"/>
          </p:cNvGraphicFramePr>
          <p:nvPr>
            <p:ph idx="1"/>
            <p:extLst>
              <p:ext uri="{D42A27DB-BD31-4B8C-83A1-F6EECF244321}">
                <p14:modId xmlns:p14="http://schemas.microsoft.com/office/powerpoint/2010/main" val="3190510254"/>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60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42A7-2444-985A-613B-328AC042AB92}"/>
              </a:ext>
            </a:extLst>
          </p:cNvPr>
          <p:cNvSpPr>
            <a:spLocks noGrp="1"/>
          </p:cNvSpPr>
          <p:nvPr>
            <p:ph type="title"/>
          </p:nvPr>
        </p:nvSpPr>
        <p:spPr>
          <a:xfrm>
            <a:off x="913795" y="609600"/>
            <a:ext cx="10353761" cy="1326321"/>
          </a:xfrm>
        </p:spPr>
        <p:txBody>
          <a:bodyPr>
            <a:normAutofit/>
          </a:bodyPr>
          <a:lstStyle/>
          <a:p>
            <a:r>
              <a:rPr lang="en-US" dirty="0"/>
              <a:t>Polynomial Regression</a:t>
            </a:r>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8520614-3A2C-EF63-2565-34DFCB4EC01A}"/>
              </a:ext>
            </a:extLst>
          </p:cNvPr>
          <p:cNvGraphicFramePr>
            <a:graphicFrameLocks noGrp="1"/>
          </p:cNvGraphicFramePr>
          <p:nvPr>
            <p:ph idx="1"/>
            <p:extLst>
              <p:ext uri="{D42A27DB-BD31-4B8C-83A1-F6EECF244321}">
                <p14:modId xmlns:p14="http://schemas.microsoft.com/office/powerpoint/2010/main" val="3308813482"/>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818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AEFB3-8E5A-2AEB-B34A-44A86DAFA332}"/>
              </a:ext>
            </a:extLst>
          </p:cNvPr>
          <p:cNvSpPr>
            <a:spLocks noGrp="1"/>
          </p:cNvSpPr>
          <p:nvPr>
            <p:ph type="title"/>
          </p:nvPr>
        </p:nvSpPr>
        <p:spPr>
          <a:xfrm>
            <a:off x="913796" y="927100"/>
            <a:ext cx="3418766" cy="4616450"/>
          </a:xfrm>
        </p:spPr>
        <p:txBody>
          <a:bodyPr>
            <a:normAutofit/>
          </a:bodyPr>
          <a:lstStyle/>
          <a:p>
            <a:r>
              <a:rPr lang="en-US" dirty="0"/>
              <a:t>External validation</a:t>
            </a:r>
          </a:p>
        </p:txBody>
      </p:sp>
      <p:cxnSp>
        <p:nvCxnSpPr>
          <p:cNvPr id="17" name="Straight Connector 16">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3DA117-67D9-F5CD-89F3-782C38F54D19}"/>
              </a:ext>
            </a:extLst>
          </p:cNvPr>
          <p:cNvSpPr>
            <a:spLocks noGrp="1"/>
          </p:cNvSpPr>
          <p:nvPr>
            <p:ph idx="1"/>
          </p:nvPr>
        </p:nvSpPr>
        <p:spPr>
          <a:xfrm>
            <a:off x="4976029" y="971549"/>
            <a:ext cx="6291528" cy="4616450"/>
          </a:xfrm>
        </p:spPr>
        <p:txBody>
          <a:bodyPr anchor="ctr">
            <a:normAutofit/>
          </a:bodyPr>
          <a:lstStyle/>
          <a:p>
            <a:r>
              <a:rPr lang="en-US" dirty="0"/>
              <a:t>Polynomial Regression Model – External Validation Results</a:t>
            </a:r>
          </a:p>
          <a:p>
            <a:r>
              <a:rPr lang="en-US" dirty="0"/>
              <a:t>Polynomial Regression Model – 10-Fold Cross-Validation Results</a:t>
            </a:r>
          </a:p>
          <a:p>
            <a:endParaRPr lang="en-US" dirty="0"/>
          </a:p>
        </p:txBody>
      </p:sp>
    </p:spTree>
    <p:extLst>
      <p:ext uri="{BB962C8B-B14F-4D97-AF65-F5344CB8AC3E}">
        <p14:creationId xmlns:p14="http://schemas.microsoft.com/office/powerpoint/2010/main" val="984753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4E08-545C-CD67-4C39-F0248E99A729}"/>
              </a:ext>
            </a:extLst>
          </p:cNvPr>
          <p:cNvSpPr>
            <a:spLocks noGrp="1"/>
          </p:cNvSpPr>
          <p:nvPr>
            <p:ph type="title"/>
          </p:nvPr>
        </p:nvSpPr>
        <p:spPr>
          <a:xfrm>
            <a:off x="913795" y="609600"/>
            <a:ext cx="10353761" cy="1326321"/>
          </a:xfrm>
        </p:spPr>
        <p:txBody>
          <a:bodyPr>
            <a:normAutofit/>
          </a:bodyPr>
          <a:lstStyle/>
          <a:p>
            <a:pPr lvl="0"/>
            <a:r>
              <a:rPr lang="en-US" dirty="0"/>
              <a:t>Polynomial Regression Model – External Validation Results</a:t>
            </a:r>
          </a:p>
        </p:txBody>
      </p:sp>
      <p:sp>
        <p:nvSpPr>
          <p:cNvPr id="21" name="Rectangle 20">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graphicFrame>
        <p:nvGraphicFramePr>
          <p:cNvPr id="11" name="Content Placeholder 2">
            <a:extLst>
              <a:ext uri="{FF2B5EF4-FFF2-40B4-BE49-F238E27FC236}">
                <a16:creationId xmlns:a16="http://schemas.microsoft.com/office/drawing/2014/main" id="{99DCE245-A332-2B57-4F86-7FA801D9B673}"/>
              </a:ext>
            </a:extLst>
          </p:cNvPr>
          <p:cNvGraphicFramePr>
            <a:graphicFrameLocks noGrp="1"/>
          </p:cNvGraphicFramePr>
          <p:nvPr>
            <p:ph idx="1"/>
            <p:extLst>
              <p:ext uri="{D42A27DB-BD31-4B8C-83A1-F6EECF244321}">
                <p14:modId xmlns:p14="http://schemas.microsoft.com/office/powerpoint/2010/main" val="2056298435"/>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6001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4B62C-7C6B-68A8-9568-CCFDE76F489E}"/>
              </a:ext>
            </a:extLst>
          </p:cNvPr>
          <p:cNvSpPr>
            <a:spLocks noGrp="1"/>
          </p:cNvSpPr>
          <p:nvPr>
            <p:ph type="title"/>
          </p:nvPr>
        </p:nvSpPr>
        <p:spPr>
          <a:xfrm>
            <a:off x="913795" y="609600"/>
            <a:ext cx="10353761" cy="1326321"/>
          </a:xfrm>
        </p:spPr>
        <p:txBody>
          <a:bodyPr>
            <a:normAutofit/>
          </a:bodyPr>
          <a:lstStyle/>
          <a:p>
            <a:r>
              <a:rPr lang="en-US" sz="2900" dirty="0"/>
              <a:t>Polynomial Regression Model – 10-Fold Cross-Validation Results</a:t>
            </a:r>
            <a:br>
              <a:rPr lang="en-US" sz="2900" dirty="0"/>
            </a:br>
            <a:endParaRPr lang="en-US" sz="2900" dirty="0"/>
          </a:p>
        </p:txBody>
      </p:sp>
      <p:sp>
        <p:nvSpPr>
          <p:cNvPr id="20" name="Rectangle 1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1021A7FC-599C-D902-7B7F-90E396F77A40}"/>
              </a:ext>
            </a:extLst>
          </p:cNvPr>
          <p:cNvSpPr>
            <a:spLocks noGrp="1"/>
          </p:cNvSpPr>
          <p:nvPr>
            <p:ph idx="1"/>
          </p:nvPr>
        </p:nvSpPr>
        <p:spPr>
          <a:xfrm>
            <a:off x="1466850" y="2463800"/>
            <a:ext cx="9247652" cy="3327400"/>
          </a:xfrm>
        </p:spPr>
        <p:txBody>
          <a:bodyPr>
            <a:normAutofit/>
          </a:bodyPr>
          <a:lstStyle/>
          <a:p>
            <a:r>
              <a:rPr lang="en-US" dirty="0"/>
              <a:t>Objective: Assess model reliability through 10-fold cross-validation.</a:t>
            </a:r>
            <a:endParaRPr lang="en-US"/>
          </a:p>
          <a:p>
            <a:r>
              <a:rPr lang="en-US" dirty="0"/>
              <a:t>Performance:</a:t>
            </a:r>
            <a:endParaRPr lang="en-US"/>
          </a:p>
          <a:p>
            <a:r>
              <a:rPr lang="en-US" dirty="0"/>
              <a:t>Mean MSE: 2.08 (low error, close predictions)Mean R-squared: 0.954 (captures 95.4% variance)</a:t>
            </a:r>
            <a:endParaRPr lang="en-US"/>
          </a:p>
          <a:p>
            <a:r>
              <a:rPr lang="en-US" dirty="0"/>
              <a:t>Conclusion: Strong model consistency and accuracy in predicting player ratings across folds, demonstrating effective handling of non-linear relationships.</a:t>
            </a:r>
            <a:endParaRPr lang="en-US"/>
          </a:p>
        </p:txBody>
      </p:sp>
    </p:spTree>
    <p:extLst>
      <p:ext uri="{BB962C8B-B14F-4D97-AF65-F5344CB8AC3E}">
        <p14:creationId xmlns:p14="http://schemas.microsoft.com/office/powerpoint/2010/main" val="2114435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5A5E1-45D2-D823-F1CF-C358DC9EBDCB}"/>
              </a:ext>
            </a:extLst>
          </p:cNvPr>
          <p:cNvSpPr>
            <a:spLocks noGrp="1"/>
          </p:cNvSpPr>
          <p:nvPr>
            <p:ph type="title"/>
          </p:nvPr>
        </p:nvSpPr>
        <p:spPr>
          <a:xfrm>
            <a:off x="752475" y="609600"/>
            <a:ext cx="3643150" cy="5603310"/>
          </a:xfrm>
        </p:spPr>
        <p:txBody>
          <a:bodyPr>
            <a:normAutofit/>
          </a:bodyPr>
          <a:lstStyle/>
          <a:p>
            <a:r>
              <a:rPr lang="en-US" dirty="0"/>
              <a:t>Residual analysis</a:t>
            </a:r>
          </a:p>
        </p:txBody>
      </p:sp>
      <p:graphicFrame>
        <p:nvGraphicFramePr>
          <p:cNvPr id="5" name="Content Placeholder 2">
            <a:extLst>
              <a:ext uri="{FF2B5EF4-FFF2-40B4-BE49-F238E27FC236}">
                <a16:creationId xmlns:a16="http://schemas.microsoft.com/office/drawing/2014/main" id="{60FB601E-930B-BD8B-8071-373C8A743521}"/>
              </a:ext>
            </a:extLst>
          </p:cNvPr>
          <p:cNvGraphicFramePr>
            <a:graphicFrameLocks noGrp="1"/>
          </p:cNvGraphicFramePr>
          <p:nvPr>
            <p:ph idx="1"/>
            <p:extLst>
              <p:ext uri="{D42A27DB-BD31-4B8C-83A1-F6EECF244321}">
                <p14:modId xmlns:p14="http://schemas.microsoft.com/office/powerpoint/2010/main" val="143836952"/>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834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8B7CA2-207C-195C-8538-0BB8ED5C9D76}"/>
              </a:ext>
            </a:extLst>
          </p:cNvPr>
          <p:cNvPicPr>
            <a:picLocks noGrp="1" noChangeAspect="1"/>
          </p:cNvPicPr>
          <p:nvPr>
            <p:ph idx="1"/>
          </p:nvPr>
        </p:nvPicPr>
        <p:blipFill>
          <a:blip r:embed="rId2"/>
          <a:stretch>
            <a:fillRect/>
          </a:stretch>
        </p:blipFill>
        <p:spPr>
          <a:xfrm>
            <a:off x="0" y="0"/>
            <a:ext cx="12192000" cy="2222203"/>
          </a:xfrm>
          <a:prstGeom prst="rect">
            <a:avLst/>
          </a:prstGeom>
        </p:spPr>
      </p:pic>
      <p:pic>
        <p:nvPicPr>
          <p:cNvPr id="5" name="Picture 4">
            <a:extLst>
              <a:ext uri="{FF2B5EF4-FFF2-40B4-BE49-F238E27FC236}">
                <a16:creationId xmlns:a16="http://schemas.microsoft.com/office/drawing/2014/main" id="{1C6A148C-2E96-CEEC-7461-E61F64136534}"/>
              </a:ext>
            </a:extLst>
          </p:cNvPr>
          <p:cNvPicPr>
            <a:picLocks noChangeAspect="1"/>
          </p:cNvPicPr>
          <p:nvPr/>
        </p:nvPicPr>
        <p:blipFill>
          <a:blip r:embed="rId3"/>
          <a:stretch>
            <a:fillRect/>
          </a:stretch>
        </p:blipFill>
        <p:spPr>
          <a:xfrm>
            <a:off x="0" y="4486940"/>
            <a:ext cx="12192000" cy="2371060"/>
          </a:xfrm>
          <a:prstGeom prst="rect">
            <a:avLst/>
          </a:prstGeom>
        </p:spPr>
      </p:pic>
      <p:pic>
        <p:nvPicPr>
          <p:cNvPr id="6" name="Picture 5">
            <a:extLst>
              <a:ext uri="{FF2B5EF4-FFF2-40B4-BE49-F238E27FC236}">
                <a16:creationId xmlns:a16="http://schemas.microsoft.com/office/drawing/2014/main" id="{CE318744-3354-37B8-1F0F-2D84D3CBC48E}"/>
              </a:ext>
            </a:extLst>
          </p:cNvPr>
          <p:cNvPicPr>
            <a:picLocks noChangeAspect="1"/>
          </p:cNvPicPr>
          <p:nvPr/>
        </p:nvPicPr>
        <p:blipFill>
          <a:blip r:embed="rId4"/>
          <a:stretch>
            <a:fillRect/>
          </a:stretch>
        </p:blipFill>
        <p:spPr>
          <a:xfrm>
            <a:off x="0" y="2222204"/>
            <a:ext cx="12192000" cy="2264735"/>
          </a:xfrm>
          <a:prstGeom prst="rect">
            <a:avLst/>
          </a:prstGeom>
        </p:spPr>
      </p:pic>
    </p:spTree>
    <p:extLst>
      <p:ext uri="{BB962C8B-B14F-4D97-AF65-F5344CB8AC3E}">
        <p14:creationId xmlns:p14="http://schemas.microsoft.com/office/powerpoint/2010/main" val="783991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A84F7-151A-12BF-21BD-2BFFDB511FFF}"/>
              </a:ext>
            </a:extLst>
          </p:cNvPr>
          <p:cNvSpPr>
            <a:spLocks noGrp="1"/>
          </p:cNvSpPr>
          <p:nvPr>
            <p:ph type="title"/>
          </p:nvPr>
        </p:nvSpPr>
        <p:spPr>
          <a:xfrm>
            <a:off x="913794" y="643467"/>
            <a:ext cx="9600217" cy="3585834"/>
          </a:xfrm>
        </p:spPr>
        <p:txBody>
          <a:bodyPr vert="horz" lIns="91440" tIns="45720" rIns="91440" bIns="45720" rtlCol="0" anchor="b">
            <a:normAutofit/>
          </a:bodyPr>
          <a:lstStyle/>
          <a:p>
            <a:pPr algn="l"/>
            <a:r>
              <a:rPr lang="en-US" sz="7200"/>
              <a:t>RESULTS</a:t>
            </a:r>
          </a:p>
        </p:txBody>
      </p:sp>
    </p:spTree>
    <p:extLst>
      <p:ext uri="{BB962C8B-B14F-4D97-AF65-F5344CB8AC3E}">
        <p14:creationId xmlns:p14="http://schemas.microsoft.com/office/powerpoint/2010/main" val="2000466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BF72D-8C04-D1F3-9FEB-2892B19364D5}"/>
              </a:ext>
            </a:extLst>
          </p:cNvPr>
          <p:cNvSpPr>
            <a:spLocks noGrp="1"/>
          </p:cNvSpPr>
          <p:nvPr>
            <p:ph type="title"/>
          </p:nvPr>
        </p:nvSpPr>
        <p:spPr>
          <a:xfrm>
            <a:off x="913795" y="609600"/>
            <a:ext cx="10353761" cy="1326321"/>
          </a:xfrm>
        </p:spPr>
        <p:txBody>
          <a:bodyPr>
            <a:normAutofit/>
          </a:bodyPr>
          <a:lstStyle/>
          <a:p>
            <a:r>
              <a:rPr lang="en-US" sz="2100" b="0"/>
              <a:t>How do key performance metrics (e.g., pace, shooting, passing) influence a player's overall rating in professional sports, and which attributes have the most significant impact?</a:t>
            </a:r>
            <a:br>
              <a:rPr lang="en-US" sz="2100" b="0"/>
            </a:br>
            <a:endParaRPr lang="en-US" sz="2100" b="0"/>
          </a:p>
        </p:txBody>
      </p:sp>
      <p:sp>
        <p:nvSpPr>
          <p:cNvPr id="17" name="Rectangle 16">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26E7DB-C933-5F16-5A05-D4CC16A65B7F}"/>
              </a:ext>
            </a:extLst>
          </p:cNvPr>
          <p:cNvSpPr>
            <a:spLocks noGrp="1"/>
          </p:cNvSpPr>
          <p:nvPr>
            <p:ph idx="1"/>
          </p:nvPr>
        </p:nvSpPr>
        <p:spPr>
          <a:xfrm>
            <a:off x="1466850" y="2463800"/>
            <a:ext cx="9247652" cy="3327400"/>
          </a:xfrm>
        </p:spPr>
        <p:txBody>
          <a:bodyPr>
            <a:normAutofit/>
          </a:bodyPr>
          <a:lstStyle/>
          <a:p>
            <a:pPr lvl="0">
              <a:lnSpc>
                <a:spcPct val="110000"/>
              </a:lnSpc>
            </a:pPr>
            <a:r>
              <a:rPr lang="en-US" sz="1700" dirty="0"/>
              <a:t>Impact of Key Performance Metrics on Player’s Overall Rating</a:t>
            </a:r>
          </a:p>
          <a:p>
            <a:pPr lvl="0">
              <a:lnSpc>
                <a:spcPct val="110000"/>
              </a:lnSpc>
            </a:pPr>
            <a:r>
              <a:rPr lang="en-US" sz="1700" dirty="0"/>
              <a:t>Most Influential Metrics: Dribbling and Physic have the strongest positive impact on a player’s overall rating. </a:t>
            </a:r>
          </a:p>
          <a:p>
            <a:pPr lvl="0">
              <a:lnSpc>
                <a:spcPct val="110000"/>
              </a:lnSpc>
            </a:pPr>
            <a:r>
              <a:rPr lang="en-US" sz="1700" dirty="0"/>
              <a:t>Skill Moves, Shooting, and Passing also significantly enhance a player's rating, showcasing the importance of technical and physical abilities.</a:t>
            </a:r>
          </a:p>
          <a:p>
            <a:pPr lvl="0">
              <a:lnSpc>
                <a:spcPct val="110000"/>
              </a:lnSpc>
            </a:pPr>
            <a:r>
              <a:rPr lang="en-US" sz="1700" dirty="0"/>
              <a:t>Less Influential: Pace shows a minimal effect on overall rating, indicating that speed is valued less than technical and physical skills.</a:t>
            </a:r>
          </a:p>
          <a:p>
            <a:pPr lvl="0">
              <a:lnSpc>
                <a:spcPct val="110000"/>
              </a:lnSpc>
            </a:pPr>
            <a:r>
              <a:rPr lang="en-US" sz="1700" dirty="0"/>
              <a:t>Conclusion: Technical skill, physicality, and versatility are prioritized, with Dribbling and Physic emerging as the most valued metrics in determining overall player rating</a:t>
            </a:r>
          </a:p>
          <a:p>
            <a:pPr lvl="0">
              <a:lnSpc>
                <a:spcPct val="110000"/>
              </a:lnSpc>
            </a:pPr>
            <a:endParaRPr lang="en-US" sz="1700" dirty="0"/>
          </a:p>
          <a:p>
            <a:pPr>
              <a:lnSpc>
                <a:spcPct val="110000"/>
              </a:lnSpc>
            </a:pPr>
            <a:endParaRPr lang="en-US" sz="1700" dirty="0"/>
          </a:p>
        </p:txBody>
      </p:sp>
    </p:spTree>
    <p:extLst>
      <p:ext uri="{BB962C8B-B14F-4D97-AF65-F5344CB8AC3E}">
        <p14:creationId xmlns:p14="http://schemas.microsoft.com/office/powerpoint/2010/main" val="1548122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9DB619-D207-39EF-77B0-328C25009738}"/>
              </a:ext>
            </a:extLst>
          </p:cNvPr>
          <p:cNvSpPr>
            <a:spLocks noGrp="1"/>
          </p:cNvSpPr>
          <p:nvPr>
            <p:ph type="title"/>
          </p:nvPr>
        </p:nvSpPr>
        <p:spPr>
          <a:xfrm>
            <a:off x="913795" y="609600"/>
            <a:ext cx="10353761" cy="1326321"/>
          </a:xfrm>
        </p:spPr>
        <p:txBody>
          <a:bodyPr>
            <a:normAutofit/>
          </a:bodyPr>
          <a:lstStyle/>
          <a:p>
            <a:r>
              <a:rPr lang="en-US" sz="1600" b="0"/>
              <a:t>How does the performance of polynomial regression compare to multiple linear regression in terms of predictive accuracy for player ratings, and does the inclusion of non-linear terms lead to significant improvements?</a:t>
            </a:r>
            <a:br>
              <a:rPr lang="en-US" sz="1600" b="0"/>
            </a:br>
            <a:endParaRPr lang="en-US" sz="1600" b="0"/>
          </a:p>
        </p:txBody>
      </p:sp>
      <p:sp>
        <p:nvSpPr>
          <p:cNvPr id="10" name="Rectangle 9">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6F49E4-440D-877D-2736-C4E82BF82E49}"/>
              </a:ext>
            </a:extLst>
          </p:cNvPr>
          <p:cNvSpPr>
            <a:spLocks noGrp="1"/>
          </p:cNvSpPr>
          <p:nvPr>
            <p:ph idx="1"/>
          </p:nvPr>
        </p:nvSpPr>
        <p:spPr>
          <a:xfrm>
            <a:off x="1466850" y="2463800"/>
            <a:ext cx="9247652" cy="3327400"/>
          </a:xfrm>
        </p:spPr>
        <p:txBody>
          <a:bodyPr>
            <a:normAutofit/>
          </a:bodyPr>
          <a:lstStyle/>
          <a:p>
            <a:pPr>
              <a:lnSpc>
                <a:spcPct val="110000"/>
              </a:lnSpc>
            </a:pPr>
            <a:r>
              <a:rPr lang="en-US" dirty="0"/>
              <a:t>Polynomial vs. Multiple Linear Regression for Player Ratings</a:t>
            </a:r>
          </a:p>
          <a:p>
            <a:pPr>
              <a:lnSpc>
                <a:spcPct val="110000"/>
              </a:lnSpc>
            </a:pPr>
            <a:r>
              <a:rPr lang="en-US" dirty="0"/>
              <a:t>Accuracy: Polynomial Regression (MSE = 2.06, R² = 0.95) significantly outperforms Multiple Linear Regression (MSE = 8.91, R² = 0.80).</a:t>
            </a:r>
          </a:p>
          <a:p>
            <a:pPr>
              <a:lnSpc>
                <a:spcPct val="110000"/>
              </a:lnSpc>
            </a:pPr>
            <a:r>
              <a:rPr lang="en-US" dirty="0"/>
              <a:t>Impact of Non-linear Terms: Adding squared terms captures complex relationships, enhancing model fit and predictive accuracy.</a:t>
            </a:r>
          </a:p>
          <a:p>
            <a:pPr>
              <a:lnSpc>
                <a:spcPct val="110000"/>
              </a:lnSpc>
            </a:pPr>
            <a:r>
              <a:rPr lang="en-US" dirty="0"/>
              <a:t>Conclusion: Polynomial Regression is more effective for predicting player ratings due to its ability to model non-linear interactions between performance metrics.</a:t>
            </a:r>
          </a:p>
        </p:txBody>
      </p:sp>
    </p:spTree>
    <p:extLst>
      <p:ext uri="{BB962C8B-B14F-4D97-AF65-F5344CB8AC3E}">
        <p14:creationId xmlns:p14="http://schemas.microsoft.com/office/powerpoint/2010/main" val="3451481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75AE-6171-E7A6-1DD0-F5B388307DC5}"/>
              </a:ext>
            </a:extLst>
          </p:cNvPr>
          <p:cNvSpPr>
            <a:spLocks noGrp="1"/>
          </p:cNvSpPr>
          <p:nvPr>
            <p:ph type="title"/>
          </p:nvPr>
        </p:nvSpPr>
        <p:spPr>
          <a:xfrm>
            <a:off x="913795" y="609600"/>
            <a:ext cx="10353761" cy="1326321"/>
          </a:xfrm>
        </p:spPr>
        <p:txBody>
          <a:bodyPr>
            <a:normAutofit/>
          </a:bodyPr>
          <a:lstStyle/>
          <a:p>
            <a:r>
              <a:rPr lang="en-US" sz="2100" b="0"/>
              <a:t>How effective are cross-validation and external validation methods in evaluating the stability of regression models for predicting player ratings?</a:t>
            </a:r>
            <a:br>
              <a:rPr lang="en-US" sz="2100" b="0"/>
            </a:br>
            <a:endParaRPr lang="en-US" sz="2100" b="0"/>
          </a:p>
        </p:txBody>
      </p:sp>
      <p:sp>
        <p:nvSpPr>
          <p:cNvPr id="17" name="Rectangle 16">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6B7BC9-844A-FAE6-3DF1-8A640732CB1A}"/>
              </a:ext>
            </a:extLst>
          </p:cNvPr>
          <p:cNvSpPr>
            <a:spLocks noGrp="1"/>
          </p:cNvSpPr>
          <p:nvPr>
            <p:ph idx="1"/>
          </p:nvPr>
        </p:nvSpPr>
        <p:spPr>
          <a:xfrm>
            <a:off x="1466850" y="2463800"/>
            <a:ext cx="9247652" cy="3327400"/>
          </a:xfrm>
        </p:spPr>
        <p:txBody>
          <a:bodyPr>
            <a:normAutofit lnSpcReduction="10000"/>
          </a:bodyPr>
          <a:lstStyle/>
          <a:p>
            <a:pPr>
              <a:lnSpc>
                <a:spcPct val="110000"/>
              </a:lnSpc>
            </a:pPr>
            <a:r>
              <a:rPr lang="en-US" dirty="0"/>
              <a:t>Model Stability: Cross-Validation &amp; External Validation</a:t>
            </a:r>
          </a:p>
          <a:p>
            <a:pPr>
              <a:lnSpc>
                <a:spcPct val="110000"/>
              </a:lnSpc>
            </a:pPr>
            <a:r>
              <a:rPr lang="en-US" b="1" dirty="0"/>
              <a:t>Cross-Validation (10-Fold)Purpose</a:t>
            </a:r>
            <a:r>
              <a:rPr lang="en-US" dirty="0"/>
              <a:t>: Assesses model consistency across data subsets.</a:t>
            </a:r>
          </a:p>
          <a:p>
            <a:pPr>
              <a:lnSpc>
                <a:spcPct val="110000"/>
              </a:lnSpc>
            </a:pPr>
            <a:r>
              <a:rPr lang="en-US" dirty="0"/>
              <a:t>Results: MSE ~2.08, R² 0.95 — strong generalization, low variance.</a:t>
            </a:r>
          </a:p>
          <a:p>
            <a:pPr>
              <a:lnSpc>
                <a:spcPct val="110000"/>
              </a:lnSpc>
            </a:pPr>
            <a:r>
              <a:rPr lang="en-US" dirty="0"/>
              <a:t> </a:t>
            </a:r>
            <a:r>
              <a:rPr lang="en-US" b="1" dirty="0"/>
              <a:t>External </a:t>
            </a:r>
            <a:r>
              <a:rPr lang="en-US" b="1" dirty="0" err="1"/>
              <a:t>ValidationPurpose</a:t>
            </a:r>
            <a:r>
              <a:rPr lang="en-US" dirty="0"/>
              <a:t>: Tests performance on unseen data.</a:t>
            </a:r>
          </a:p>
          <a:p>
            <a:pPr>
              <a:lnSpc>
                <a:spcPct val="110000"/>
              </a:lnSpc>
            </a:pPr>
            <a:r>
              <a:rPr lang="en-US" dirty="0"/>
              <a:t>Results: MSE 2.15, R² 0.95 — mirrors training, confirms robustness.</a:t>
            </a:r>
          </a:p>
          <a:p>
            <a:pPr>
              <a:lnSpc>
                <a:spcPct val="110000"/>
              </a:lnSpc>
            </a:pPr>
            <a:r>
              <a:rPr lang="en-US" dirty="0"/>
              <a:t>Key Takeaway: Both methods confirm model stability and reliability, ensuring it generalizes well for accurate player rating predictions.</a:t>
            </a:r>
          </a:p>
        </p:txBody>
      </p:sp>
    </p:spTree>
    <p:extLst>
      <p:ext uri="{BB962C8B-B14F-4D97-AF65-F5344CB8AC3E}">
        <p14:creationId xmlns:p14="http://schemas.microsoft.com/office/powerpoint/2010/main" val="2737203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0EACCF1-BD65-41FC-3B19-CE831E7F77CC}"/>
              </a:ext>
            </a:extLst>
          </p:cNvPr>
          <p:cNvPicPr>
            <a:picLocks noGrp="1" noChangeAspect="1"/>
          </p:cNvPicPr>
          <p:nvPr>
            <p:ph idx="1"/>
          </p:nvPr>
        </p:nvPicPr>
        <p:blipFill>
          <a:blip r:embed="rId2"/>
          <a:stretch>
            <a:fillRect/>
          </a:stretch>
        </p:blipFill>
        <p:spPr>
          <a:xfrm>
            <a:off x="915285" y="733648"/>
            <a:ext cx="10351905" cy="3874224"/>
          </a:xfrm>
          <a:prstGeom prst="rect">
            <a:avLst/>
          </a:prstGeom>
        </p:spPr>
      </p:pic>
      <p:pic>
        <p:nvPicPr>
          <p:cNvPr id="7" name="Picture 6">
            <a:extLst>
              <a:ext uri="{FF2B5EF4-FFF2-40B4-BE49-F238E27FC236}">
                <a16:creationId xmlns:a16="http://schemas.microsoft.com/office/drawing/2014/main" id="{28E0A708-1828-D173-1FCB-39C3CF51738C}"/>
              </a:ext>
            </a:extLst>
          </p:cNvPr>
          <p:cNvPicPr>
            <a:picLocks noChangeAspect="1"/>
          </p:cNvPicPr>
          <p:nvPr/>
        </p:nvPicPr>
        <p:blipFill>
          <a:blip r:embed="rId3"/>
          <a:stretch>
            <a:fillRect/>
          </a:stretch>
        </p:blipFill>
        <p:spPr>
          <a:xfrm>
            <a:off x="30361" y="627320"/>
            <a:ext cx="5828019" cy="5380075"/>
          </a:xfrm>
          <a:prstGeom prst="rect">
            <a:avLst/>
          </a:prstGeom>
        </p:spPr>
      </p:pic>
      <p:pic>
        <p:nvPicPr>
          <p:cNvPr id="8" name="Picture 7">
            <a:extLst>
              <a:ext uri="{FF2B5EF4-FFF2-40B4-BE49-F238E27FC236}">
                <a16:creationId xmlns:a16="http://schemas.microsoft.com/office/drawing/2014/main" id="{B86871CD-84D2-6CD6-D0CB-67186CA3331A}"/>
              </a:ext>
            </a:extLst>
          </p:cNvPr>
          <p:cNvPicPr>
            <a:picLocks noChangeAspect="1"/>
          </p:cNvPicPr>
          <p:nvPr/>
        </p:nvPicPr>
        <p:blipFill>
          <a:blip r:embed="rId4"/>
          <a:stretch>
            <a:fillRect/>
          </a:stretch>
        </p:blipFill>
        <p:spPr>
          <a:xfrm>
            <a:off x="5996763" y="627320"/>
            <a:ext cx="6164876" cy="5380075"/>
          </a:xfrm>
          <a:prstGeom prst="rect">
            <a:avLst/>
          </a:prstGeom>
        </p:spPr>
      </p:pic>
    </p:spTree>
    <p:extLst>
      <p:ext uri="{BB962C8B-B14F-4D97-AF65-F5344CB8AC3E}">
        <p14:creationId xmlns:p14="http://schemas.microsoft.com/office/powerpoint/2010/main" val="2060909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154EE1-316A-9C59-7A69-5D3467497AE1}"/>
              </a:ext>
            </a:extLst>
          </p:cNvPr>
          <p:cNvSpPr>
            <a:spLocks noGrp="1"/>
          </p:cNvSpPr>
          <p:nvPr>
            <p:ph type="title"/>
          </p:nvPr>
        </p:nvSpPr>
        <p:spPr>
          <a:xfrm>
            <a:off x="913796" y="927100"/>
            <a:ext cx="3418766" cy="4616450"/>
          </a:xfrm>
        </p:spPr>
        <p:txBody>
          <a:bodyPr>
            <a:normAutofit/>
          </a:bodyPr>
          <a:lstStyle/>
          <a:p>
            <a:r>
              <a:rPr lang="en-US" dirty="0"/>
              <a:t>CONCLUSION</a:t>
            </a:r>
          </a:p>
        </p:txBody>
      </p:sp>
      <p:cxnSp>
        <p:nvCxnSpPr>
          <p:cNvPr id="13" name="Straight Connector 12">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C6A246-6A69-83FB-A386-FB0BA25A109F}"/>
              </a:ext>
            </a:extLst>
          </p:cNvPr>
          <p:cNvSpPr>
            <a:spLocks noGrp="1"/>
          </p:cNvSpPr>
          <p:nvPr>
            <p:ph idx="1"/>
          </p:nvPr>
        </p:nvSpPr>
        <p:spPr>
          <a:xfrm>
            <a:off x="4976029" y="971549"/>
            <a:ext cx="6291528" cy="4616450"/>
          </a:xfrm>
        </p:spPr>
        <p:txBody>
          <a:bodyPr anchor="ctr">
            <a:normAutofit/>
          </a:bodyPr>
          <a:lstStyle/>
          <a:p>
            <a:r>
              <a:rPr lang="en-US" dirty="0"/>
              <a:t>Polynomial Regression is the optimal model for predicting player ratings, outperforming Multiple Linear Regression with a higher R-squared (~0.95) and significantly lower MSE (~2.06–2.15). </a:t>
            </a:r>
          </a:p>
          <a:p>
            <a:r>
              <a:rPr lang="en-US" dirty="0"/>
              <a:t>It demonstrates strong predictive accuracy and stability across training, cross-validation, and external test sets, making it reliable for real-world applications.</a:t>
            </a:r>
          </a:p>
        </p:txBody>
      </p:sp>
    </p:spTree>
    <p:extLst>
      <p:ext uri="{BB962C8B-B14F-4D97-AF65-F5344CB8AC3E}">
        <p14:creationId xmlns:p14="http://schemas.microsoft.com/office/powerpoint/2010/main" val="13724025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428</TotalTime>
  <Words>1312</Words>
  <Application>Microsoft Office PowerPoint</Application>
  <PresentationFormat>Widescreen</PresentationFormat>
  <Paragraphs>97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Bookman Old Style</vt:lpstr>
      <vt:lpstr>Calibri</vt:lpstr>
      <vt:lpstr>Rockwell</vt:lpstr>
      <vt:lpstr>Damask</vt:lpstr>
      <vt:lpstr>Predicting FIFA Player Ratings  Using Key Attributes</vt:lpstr>
      <vt:lpstr>Introduction:</vt:lpstr>
      <vt:lpstr>Research Questions </vt:lpstr>
      <vt:lpstr>Data Description</vt:lpstr>
      <vt:lpstr>Abstract:</vt:lpstr>
      <vt:lpstr>EXPLORATORY DATA ANALYSIS</vt:lpstr>
      <vt:lpstr>PowerPoint Presentation</vt:lpstr>
      <vt:lpstr>MODELS</vt:lpstr>
      <vt:lpstr>Multiple Linear Regression</vt:lpstr>
      <vt:lpstr>Polynomial Regression</vt:lpstr>
      <vt:lpstr>External validation</vt:lpstr>
      <vt:lpstr>Polynomial Regression Model – External Validation Results</vt:lpstr>
      <vt:lpstr>Polynomial Regression Model – 10-Fold Cross-Validation Results </vt:lpstr>
      <vt:lpstr>Residual analysis</vt:lpstr>
      <vt:lpstr>PowerPoint Presentation</vt:lpstr>
      <vt:lpstr>RESULTS</vt:lpstr>
      <vt:lpstr>How do key performance metrics (e.g., pace, shooting, passing) influence a player's overall rating in professional sports, and which attributes have the most significant impact? </vt:lpstr>
      <vt:lpstr>How does the performance of polynomial regression compare to multiple linear regression in terms of predictive accuracy for player ratings, and does the inclusion of non-linear terms lead to significant improvements? </vt:lpstr>
      <vt:lpstr>How effective are cross-validation and external validation methods in evaluating the stability of regression models for predicting player ratings? </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Nitheesh Samiappan</dc:creator>
  <cp:lastModifiedBy>raja prabakaran</cp:lastModifiedBy>
  <cp:revision>5</cp:revision>
  <dcterms:created xsi:type="dcterms:W3CDTF">2024-11-07T06:01:44Z</dcterms:created>
  <dcterms:modified xsi:type="dcterms:W3CDTF">2025-02-01T20:47:09Z</dcterms:modified>
</cp:coreProperties>
</file>